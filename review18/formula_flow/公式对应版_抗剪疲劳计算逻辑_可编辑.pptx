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2560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74" name="stop → output / 2"/>
          <p:cNvCxnSpPr>
            <a:endCxn id="17" idx="3"/>
          </p:cNvCxnSpPr>
          <p:nvPr/>
        </p:nvCxnSpPr>
        <p:spPr>
          <a:xfrm flipH="1" flipV="1">
            <a:off x="9249507" y="22605022"/>
            <a:ext cx="2505808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op → output / 1"/>
          <p:cNvCxnSpPr>
            <a:stCxn id="19" idx="2"/>
          </p:cNvCxnSpPr>
          <p:nvPr/>
        </p:nvCxnSpPr>
        <p:spPr>
          <a:xfrm>
            <a:off x="11755314" y="20714676"/>
            <a:ext cx="1" cy="1890347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ccept → limit / 3"/>
          <p:cNvCxnSpPr>
            <a:endCxn id="6" idx="1"/>
          </p:cNvCxnSpPr>
          <p:nvPr/>
        </p:nvCxnSpPr>
        <p:spPr>
          <a:xfrm>
            <a:off x="3754315" y="7570176"/>
            <a:ext cx="483577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ccept → limit / 2"/>
          <p:cNvCxnSpPr/>
          <p:nvPr/>
        </p:nvCxnSpPr>
        <p:spPr>
          <a:xfrm flipV="1">
            <a:off x="3754315" y="7570176"/>
            <a:ext cx="0" cy="13496193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accept → limit / 1"/>
          <p:cNvCxnSpPr>
            <a:stCxn id="16" idx="1"/>
          </p:cNvCxnSpPr>
          <p:nvPr/>
        </p:nvCxnSpPr>
        <p:spPr>
          <a:xfrm flipH="1">
            <a:off x="3754315" y="21066368"/>
            <a:ext cx="483577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owok → stop / 1"/>
          <p:cNvCxnSpPr>
            <a:stCxn id="15" idx="3"/>
            <a:endCxn id="19" idx="1"/>
          </p:cNvCxnSpPr>
          <p:nvPr/>
        </p:nvCxnSpPr>
        <p:spPr>
          <a:xfrm>
            <a:off x="9249507" y="19747522"/>
            <a:ext cx="1055077" cy="263769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owok → accept / 1"/>
          <p:cNvCxnSpPr>
            <a:stCxn id="15" idx="2"/>
            <a:endCxn id="16" idx="0"/>
          </p:cNvCxnSpPr>
          <p:nvPr/>
        </p:nvCxnSpPr>
        <p:spPr>
          <a:xfrm>
            <a:off x="6743699" y="20187137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ow → lowok / 1"/>
          <p:cNvCxnSpPr>
            <a:stCxn id="14" idx="2"/>
            <a:endCxn id="15" idx="0"/>
          </p:cNvCxnSpPr>
          <p:nvPr/>
        </p:nvCxnSpPr>
        <p:spPr>
          <a:xfrm>
            <a:off x="6743699" y="18956214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peakok → stop / 3"/>
          <p:cNvCxnSpPr>
            <a:endCxn id="19" idx="1"/>
          </p:cNvCxnSpPr>
          <p:nvPr/>
        </p:nvCxnSpPr>
        <p:spPr>
          <a:xfrm flipV="1">
            <a:off x="9864969" y="20011291"/>
            <a:ext cx="439615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peakok → stop / 2"/>
          <p:cNvCxnSpPr/>
          <p:nvPr/>
        </p:nvCxnSpPr>
        <p:spPr>
          <a:xfrm>
            <a:off x="9864969" y="17109830"/>
            <a:ext cx="0" cy="2901462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eakok → stop / 1"/>
          <p:cNvCxnSpPr>
            <a:stCxn id="13" idx="3"/>
          </p:cNvCxnSpPr>
          <p:nvPr/>
        </p:nvCxnSpPr>
        <p:spPr>
          <a:xfrm>
            <a:off x="9249507" y="17109830"/>
            <a:ext cx="615462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peakok → low / 1"/>
          <p:cNvCxnSpPr>
            <a:stCxn id="13" idx="2"/>
            <a:endCxn id="14" idx="0"/>
          </p:cNvCxnSpPr>
          <p:nvPr/>
        </p:nvCxnSpPr>
        <p:spPr>
          <a:xfrm>
            <a:off x="6743699" y="17549445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try → peakok / 1"/>
          <p:cNvCxnSpPr>
            <a:stCxn id="12" idx="2"/>
            <a:endCxn id="13" idx="0"/>
          </p:cNvCxnSpPr>
          <p:nvPr/>
        </p:nvCxnSpPr>
        <p:spPr>
          <a:xfrm>
            <a:off x="6743699" y="16318522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half → proposal / 3"/>
          <p:cNvCxnSpPr>
            <a:endCxn id="10" idx="3"/>
          </p:cNvCxnSpPr>
          <p:nvPr/>
        </p:nvCxnSpPr>
        <p:spPr>
          <a:xfrm flipH="1" flipV="1">
            <a:off x="9249507" y="13065368"/>
            <a:ext cx="527539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half → proposal / 2"/>
          <p:cNvCxnSpPr/>
          <p:nvPr/>
        </p:nvCxnSpPr>
        <p:spPr>
          <a:xfrm>
            <a:off x="9777046" y="13021407"/>
            <a:ext cx="0" cy="43962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half → proposal / 1"/>
          <p:cNvCxnSpPr>
            <a:stCxn id="18" idx="1"/>
          </p:cNvCxnSpPr>
          <p:nvPr/>
        </p:nvCxnSpPr>
        <p:spPr>
          <a:xfrm flipH="1">
            <a:off x="9777046" y="13021407"/>
            <a:ext cx="527538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try → half / 3"/>
          <p:cNvCxnSpPr>
            <a:endCxn id="18" idx="3"/>
          </p:cNvCxnSpPr>
          <p:nvPr/>
        </p:nvCxnSpPr>
        <p:spPr>
          <a:xfrm flipH="1">
            <a:off x="13206045" y="13021407"/>
            <a:ext cx="219808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try → half / 2"/>
          <p:cNvCxnSpPr/>
          <p:nvPr/>
        </p:nvCxnSpPr>
        <p:spPr>
          <a:xfrm flipV="1">
            <a:off x="13425853" y="13021407"/>
            <a:ext cx="0" cy="2813539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try → half / 1"/>
          <p:cNvCxnSpPr>
            <a:stCxn id="12" idx="3"/>
          </p:cNvCxnSpPr>
          <p:nvPr/>
        </p:nvCxnSpPr>
        <p:spPr>
          <a:xfrm>
            <a:off x="9249507" y="15834945"/>
            <a:ext cx="4176346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eak → retry / 1"/>
          <p:cNvCxnSpPr>
            <a:stCxn id="11" idx="2"/>
            <a:endCxn id="12" idx="0"/>
          </p:cNvCxnSpPr>
          <p:nvPr/>
        </p:nvCxnSpPr>
        <p:spPr>
          <a:xfrm>
            <a:off x="6743699" y="14999676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roposal → peak / 1"/>
          <p:cNvCxnSpPr>
            <a:stCxn id="10" idx="2"/>
            <a:endCxn id="11" idx="0"/>
          </p:cNvCxnSpPr>
          <p:nvPr/>
        </p:nvCxnSpPr>
        <p:spPr>
          <a:xfrm>
            <a:off x="6743699" y="13592906"/>
            <a:ext cx="0" cy="35169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ep → proposal / 1"/>
          <p:cNvCxnSpPr>
            <a:stCxn id="9" idx="2"/>
            <a:endCxn id="10" idx="0"/>
          </p:cNvCxnSpPr>
          <p:nvPr/>
        </p:nvCxnSpPr>
        <p:spPr>
          <a:xfrm>
            <a:off x="6743699" y="12186137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inactive → output / 3"/>
          <p:cNvCxnSpPr>
            <a:endCxn id="17" idx="1"/>
          </p:cNvCxnSpPr>
          <p:nvPr/>
        </p:nvCxnSpPr>
        <p:spPr>
          <a:xfrm flipV="1">
            <a:off x="633046" y="22605022"/>
            <a:ext cx="3604846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inactive → output / 2"/>
          <p:cNvCxnSpPr/>
          <p:nvPr/>
        </p:nvCxnSpPr>
        <p:spPr>
          <a:xfrm>
            <a:off x="633046" y="10339753"/>
            <a:ext cx="0" cy="1226527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inactive → output / 1"/>
          <p:cNvCxnSpPr>
            <a:stCxn id="21" idx="1"/>
          </p:cNvCxnSpPr>
          <p:nvPr/>
        </p:nvCxnSpPr>
        <p:spPr>
          <a:xfrm flipH="1">
            <a:off x="633046" y="10339753"/>
            <a:ext cx="263769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on → inactive / 1"/>
          <p:cNvCxnSpPr>
            <a:stCxn id="8" idx="1"/>
            <a:endCxn id="21" idx="3"/>
          </p:cNvCxnSpPr>
          <p:nvPr/>
        </p:nvCxnSpPr>
        <p:spPr>
          <a:xfrm flipH="1">
            <a:off x="3534507" y="10295791"/>
            <a:ext cx="703385" cy="43962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on → step / 1"/>
          <p:cNvCxnSpPr>
            <a:stCxn id="8" idx="2"/>
            <a:endCxn id="9" idx="0"/>
          </p:cNvCxnSpPr>
          <p:nvPr/>
        </p:nvCxnSpPr>
        <p:spPr>
          <a:xfrm>
            <a:off x="6743699" y="10779368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ctive → on / 1"/>
          <p:cNvCxnSpPr>
            <a:stCxn id="7" idx="2"/>
            <a:endCxn id="8" idx="0"/>
          </p:cNvCxnSpPr>
          <p:nvPr/>
        </p:nvCxnSpPr>
        <p:spPr>
          <a:xfrm>
            <a:off x="6743699" y="9416560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unout → output / 3"/>
          <p:cNvCxnSpPr>
            <a:endCxn id="17" idx="1"/>
          </p:cNvCxnSpPr>
          <p:nvPr/>
        </p:nvCxnSpPr>
        <p:spPr>
          <a:xfrm flipV="1">
            <a:off x="633046" y="22605022"/>
            <a:ext cx="3604846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unout → output / 2"/>
          <p:cNvCxnSpPr/>
          <p:nvPr/>
        </p:nvCxnSpPr>
        <p:spPr>
          <a:xfrm>
            <a:off x="633046" y="7570176"/>
            <a:ext cx="0" cy="15034847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unout → output / 1"/>
          <p:cNvCxnSpPr>
            <a:stCxn id="20" idx="1"/>
          </p:cNvCxnSpPr>
          <p:nvPr/>
        </p:nvCxnSpPr>
        <p:spPr>
          <a:xfrm flipH="1">
            <a:off x="633046" y="7570176"/>
            <a:ext cx="263769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mit → runout / 1"/>
          <p:cNvCxnSpPr>
            <a:stCxn id="6" idx="1"/>
            <a:endCxn id="20" idx="3"/>
          </p:cNvCxnSpPr>
          <p:nvPr/>
        </p:nvCxnSpPr>
        <p:spPr>
          <a:xfrm flipH="1">
            <a:off x="3534507" y="7570176"/>
            <a:ext cx="703385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mit → active / 1"/>
          <p:cNvCxnSpPr>
            <a:stCxn id="6" idx="2"/>
            <a:endCxn id="7" idx="0"/>
          </p:cNvCxnSpPr>
          <p:nvPr/>
        </p:nvCxnSpPr>
        <p:spPr>
          <a:xfrm>
            <a:off x="6743699" y="8009791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k0 → stop / 3"/>
          <p:cNvCxnSpPr>
            <a:endCxn id="19" idx="3"/>
          </p:cNvCxnSpPr>
          <p:nvPr/>
        </p:nvCxnSpPr>
        <p:spPr>
          <a:xfrm flipH="1" flipV="1">
            <a:off x="13206045" y="20011291"/>
            <a:ext cx="527539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k0 → stop / 2"/>
          <p:cNvCxnSpPr/>
          <p:nvPr/>
        </p:nvCxnSpPr>
        <p:spPr>
          <a:xfrm>
            <a:off x="13733584" y="6295292"/>
            <a:ext cx="0" cy="1371600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ok0 → stop / 1"/>
          <p:cNvCxnSpPr>
            <a:stCxn id="5" idx="3"/>
          </p:cNvCxnSpPr>
          <p:nvPr/>
        </p:nvCxnSpPr>
        <p:spPr>
          <a:xfrm>
            <a:off x="9249507" y="6295291"/>
            <a:ext cx="4484077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ok0 → limit / 1"/>
          <p:cNvCxnSpPr>
            <a:stCxn id="5" idx="2"/>
            <a:endCxn id="6" idx="0"/>
          </p:cNvCxnSpPr>
          <p:nvPr/>
        </p:nvCxnSpPr>
        <p:spPr>
          <a:xfrm>
            <a:off x="6743699" y="6734906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initial → ok0 / 1"/>
          <p:cNvCxnSpPr>
            <a:stCxn id="4" idx="2"/>
            <a:endCxn id="5" idx="0"/>
          </p:cNvCxnSpPr>
          <p:nvPr/>
        </p:nvCxnSpPr>
        <p:spPr>
          <a:xfrm>
            <a:off x="6743699" y="5503983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input → initial / 1"/>
          <p:cNvCxnSpPr>
            <a:stCxn id="3" idx="2"/>
            <a:endCxn id="4" idx="0"/>
          </p:cNvCxnSpPr>
          <p:nvPr/>
        </p:nvCxnSpPr>
        <p:spPr>
          <a:xfrm>
            <a:off x="6743699" y="4053252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art → input / 1"/>
          <p:cNvCxnSpPr>
            <a:stCxn id="2" idx="2"/>
            <a:endCxn id="3" idx="0"/>
          </p:cNvCxnSpPr>
          <p:nvPr/>
        </p:nvCxnSpPr>
        <p:spPr>
          <a:xfrm>
            <a:off x="6743699" y="2602522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tart"/>
          <p:cNvSpPr/>
          <p:nvPr/>
        </p:nvSpPr>
        <p:spPr>
          <a:xfrm>
            <a:off x="4237892" y="1899138"/>
            <a:ext cx="5011615" cy="703384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开始：输入真实试件与峰谷总荷载 Qmax、Qmin</a:t>
            </a:r>
          </a:p>
        </p:txBody>
      </p:sp>
      <p:sp>
        <p:nvSpPr>
          <p:cNvPr id="3" name="input"/>
          <p:cNvSpPr/>
          <p:nvPr/>
        </p:nvSpPr>
        <p:spPr>
          <a:xfrm>
            <a:off x="4237892" y="2998176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准备裂缝与筋的真实交点、两侧锚固长度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初始化 N=0、局部龄期 Ni=0、最大滑移和失效记录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parameters / prepare_parameters / fatigue_calculate</a:t>
            </a:r>
          </a:p>
        </p:txBody>
      </p:sp>
      <p:sp>
        <p:nvSpPr>
          <p:cNvPr id="4" name="initial"/>
          <p:cNvSpPr/>
          <p:nvPr/>
        </p:nvSpPr>
        <p:spPr>
          <a:xfrm>
            <a:off x="4237892" y="4448907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依次求初始峰值和谷值抗剪平衡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Vc(q)+Vs(q)+Vf(q)=Qmax/2 或 Qmin/2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 → trial；内部计算见第2页</a:t>
            </a:r>
          </a:p>
        </p:txBody>
      </p:sp>
      <p:sp>
        <p:nvSpPr>
          <p:cNvPr id="5" name="ok0"/>
          <p:cNvSpPr/>
          <p:nvPr/>
        </p:nvSpPr>
        <p:spPr>
          <a:xfrm>
            <a:off x="4237892" y="5855676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初始峰、谷求解成功？</a:t>
            </a:r>
          </a:p>
        </p:txBody>
      </p:sp>
      <p:sp>
        <p:nvSpPr>
          <p:cNvPr id="6" name="limit"/>
          <p:cNvSpPr/>
          <p:nvPr/>
        </p:nvSpPr>
        <p:spPr>
          <a:xfrm>
            <a:off x="4237892" y="7130561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N &lt; Nmax？</a:t>
            </a:r>
          </a:p>
        </p:txBody>
      </p:sp>
      <p:sp>
        <p:nvSpPr>
          <p:cNvPr id="7" name="active"/>
          <p:cNvSpPr/>
          <p:nvPr/>
        </p:nvSpPr>
        <p:spPr>
          <a:xfrm>
            <a:off x="4237892" y="8361484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根据峰谷滑移判断本步活跃节点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(smax&gt;0.75δm 或曾激活)，且峰谷滑移差&gt;容差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active_nodes｜F：阈值；历史保持与容差为代码规则</a:t>
            </a:r>
          </a:p>
        </p:txBody>
      </p:sp>
      <p:sp>
        <p:nvSpPr>
          <p:cNvPr id="8" name="on"/>
          <p:cNvSpPr/>
          <p:nvPr/>
        </p:nvSpPr>
        <p:spPr>
          <a:xfrm>
            <a:off x="4237892" y="9812215"/>
            <a:ext cx="5011615" cy="967153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有活跃节点或启用了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其他材料 S–N 退化？</a:t>
            </a:r>
          </a:p>
        </p:txBody>
      </p:sp>
      <p:sp>
        <p:nvSpPr>
          <p:cNvPr id="9" name="step"/>
          <p:cNvSpPr/>
          <p:nvPr/>
        </p:nvSpPr>
        <p:spPr>
          <a:xfrm>
            <a:off x="4237892" y="11131061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选取循环块 ΔN，不跨越下一快照或 Nmax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从已接受历史提出候选：Ni,new=Ni,old+ΔN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仅活跃节点增加龄期；候选尚不提交</a:t>
            </a:r>
          </a:p>
        </p:txBody>
      </p:sp>
      <p:sp>
        <p:nvSpPr>
          <p:cNvPr id="10" name="proposal"/>
          <p:cNvSpPr/>
          <p:nvPr/>
        </p:nvSpPr>
        <p:spPr>
          <a:xfrm>
            <a:off x="4237892" y="12537830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更新节点峰值黏结应力 [F式2]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τm,i=max{0,[1−kf log₁₀max(Ni,1)]τm,0}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kf=0.1965（杆）或0.1985（条）｜bond_strength</a:t>
            </a:r>
          </a:p>
        </p:txBody>
      </p:sp>
      <p:sp>
        <p:nvSpPr>
          <p:cNvPr id="11" name="peak"/>
          <p:cNvSpPr/>
          <p:nvPr/>
        </p:nvSpPr>
        <p:spPr>
          <a:xfrm>
            <a:off x="4237892" y="13944600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将 τm,i 代入黏结本构，重新求峰值平衡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由裂缝位移q → 滑移场 → 筋力 → 抗剪力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 → trial → anchorage / bond（见第2页）</a:t>
            </a:r>
          </a:p>
        </p:txBody>
      </p:sp>
      <p:sp>
        <p:nvSpPr>
          <p:cNvPr id="12" name="retry"/>
          <p:cNvSpPr/>
          <p:nvPr/>
        </p:nvSpPr>
        <p:spPr>
          <a:xfrm>
            <a:off x="4237892" y="15351369"/>
            <a:ext cx="5011615" cy="967153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峰值失败或 q 增长过快，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且 ΔN &gt; 1？</a:t>
            </a:r>
          </a:p>
        </p:txBody>
      </p:sp>
      <p:sp>
        <p:nvSpPr>
          <p:cNvPr id="13" name="peakok"/>
          <p:cNvSpPr/>
          <p:nvPr/>
        </p:nvSpPr>
        <p:spPr>
          <a:xfrm>
            <a:off x="4237892" y="16670215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候选峰值平衡成功？</a:t>
            </a:r>
          </a:p>
        </p:txBody>
      </p:sp>
      <p:sp>
        <p:nvSpPr>
          <p:cNvPr id="14" name="low"/>
          <p:cNvSpPr/>
          <p:nvPr/>
        </p:nvSpPr>
        <p:spPr>
          <a:xfrm>
            <a:off x="4237892" y="17901138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继承峰值最大滑移历史，求谷值平衡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当前FRP黏结应力＝历史割线刚度×当前滑移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 → trial；谷值目标剪力 Qmin/2</a:t>
            </a:r>
          </a:p>
        </p:txBody>
      </p:sp>
      <p:sp>
        <p:nvSpPr>
          <p:cNvPr id="15" name="lowok"/>
          <p:cNvSpPr/>
          <p:nvPr/>
        </p:nvSpPr>
        <p:spPr>
          <a:xfrm>
            <a:off x="4237892" y="19307907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候选谷值平衡成功？</a:t>
            </a:r>
          </a:p>
        </p:txBody>
      </p:sp>
      <p:sp>
        <p:nvSpPr>
          <p:cNvPr id="16" name="accept"/>
          <p:cNvSpPr/>
          <p:nvPr/>
        </p:nvSpPr>
        <p:spPr>
          <a:xfrm>
            <a:off x="4237892" y="20538830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接受本循环块：N←N+ΔN，提交候选历史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保存 q、w、v、Vc、Vs、Vf 与局部滑移/应变/失效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fatigue_calculate / save_snapshot</a:t>
            </a:r>
          </a:p>
        </p:txBody>
      </p:sp>
      <p:sp>
        <p:nvSpPr>
          <p:cNvPr id="17" name="output"/>
          <p:cNvSpPr/>
          <p:nvPr/>
        </p:nvSpPr>
        <p:spPr>
          <a:xfrm>
            <a:off x="4237892" y="22121446"/>
            <a:ext cx="5011615" cy="967153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停止并输出最后有效状态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export_results；达到Nmax为runout，不等于疲劳寿命</a:t>
            </a:r>
          </a:p>
        </p:txBody>
      </p:sp>
      <p:sp>
        <p:nvSpPr>
          <p:cNvPr id="18" name="half"/>
          <p:cNvSpPr/>
          <p:nvPr/>
        </p:nvSpPr>
        <p:spPr>
          <a:xfrm>
            <a:off x="10304584" y="12405946"/>
            <a:ext cx="2901461" cy="123092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减小循环块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ΔN←max[1,floor(ΔN/2)]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从同一份已接受历史重算</a:t>
            </a:r>
          </a:p>
        </p:txBody>
      </p:sp>
      <p:sp>
        <p:nvSpPr>
          <p:cNvPr id="19" name="stop"/>
          <p:cNvSpPr/>
          <p:nvPr/>
        </p:nvSpPr>
        <p:spPr>
          <a:xfrm>
            <a:off x="10304584" y="19307907"/>
            <a:ext cx="2901461" cy="1406769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记录停止原因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局部数值失败 / 用户限制 /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域内指定分支无平衡根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不能统一写成“脱黏破坏”</a:t>
            </a:r>
          </a:p>
        </p:txBody>
      </p:sp>
      <p:sp>
        <p:nvSpPr>
          <p:cNvPr id="20" name="runout"/>
          <p:cNvSpPr/>
          <p:nvPr/>
        </p:nvSpPr>
        <p:spPr>
          <a:xfrm>
            <a:off x="896815" y="7130561"/>
            <a:ext cx="2637692" cy="879230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达到循环上限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记录runout</a:t>
            </a:r>
          </a:p>
        </p:txBody>
      </p:sp>
      <p:sp>
        <p:nvSpPr>
          <p:cNvPr id="21" name="inactive"/>
          <p:cNvSpPr/>
          <p:nvPr/>
        </p:nvSpPr>
        <p:spPr>
          <a:xfrm>
            <a:off x="896815" y="9812215"/>
            <a:ext cx="2637692" cy="1055076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没有可演化退化项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记录快照至Nmax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无活跃退化runout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2730" y="662500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是：保存N=0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0576" y="598756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2730" y="7877907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5230" y="7262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2730" y="10647484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5230" y="10010042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16711" y="15527215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22730" y="16186638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22730" y="1741756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6269" y="1680210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22730" y="2005525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6076" y="1957167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7738" y="16186638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下一循环块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1415561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Microsoft YaHei"/>
              </a:defRPr>
            </a:pPr>
            <a:r>
              <a:t>公式对应版｜抗剪疲劳主循环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5123" y="23528215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Microsoft YaHei"/>
              </a:defRPr>
            </a:pPr>
            <a:r>
              <a:t>F＝2019抗弯疲劳modeling论文；S＝2019单裂缝抗剪论文；E＝2024 ECC-FRP抗剪论文。公式号必须带论文前缀。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6" name="more → diag / 1"/>
          <p:cNvCxnSpPr>
            <a:stCxn id="15" idx="2"/>
            <a:endCxn id="16" idx="0"/>
          </p:cNvCxnSpPr>
          <p:nvPr/>
        </p:nvCxnSpPr>
        <p:spPr>
          <a:xfrm>
            <a:off x="11755314" y="21066368"/>
            <a:ext cx="0" cy="439616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more → start / 3"/>
          <p:cNvCxnSpPr>
            <a:endCxn id="2" idx="3"/>
          </p:cNvCxnSpPr>
          <p:nvPr/>
        </p:nvCxnSpPr>
        <p:spPr>
          <a:xfrm flipH="1">
            <a:off x="9249507" y="2620107"/>
            <a:ext cx="4484077" cy="4396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more → start / 2"/>
          <p:cNvCxnSpPr/>
          <p:nvPr/>
        </p:nvCxnSpPr>
        <p:spPr>
          <a:xfrm flipV="1">
            <a:off x="13733584" y="2620107"/>
            <a:ext cx="0" cy="17936308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more → start / 1"/>
          <p:cNvCxnSpPr>
            <a:stCxn id="15" idx="3"/>
          </p:cNvCxnSpPr>
          <p:nvPr/>
        </p:nvCxnSpPr>
        <p:spPr>
          <a:xfrm flipV="1">
            <a:off x="13206045" y="20556415"/>
            <a:ext cx="527539" cy="4395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ok → more / 1"/>
          <p:cNvCxnSpPr>
            <a:stCxn id="13" idx="3"/>
            <a:endCxn id="15" idx="1"/>
          </p:cNvCxnSpPr>
          <p:nvPr/>
        </p:nvCxnSpPr>
        <p:spPr>
          <a:xfrm>
            <a:off x="9249507" y="20560810"/>
            <a:ext cx="1055077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k → return / 1"/>
          <p:cNvCxnSpPr>
            <a:stCxn id="13" idx="2"/>
            <a:endCxn id="14" idx="0"/>
          </p:cNvCxnSpPr>
          <p:nvPr/>
        </p:nvCxnSpPr>
        <p:spPr>
          <a:xfrm>
            <a:off x="6743699" y="21066368"/>
            <a:ext cx="0" cy="439616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um → ok / 1"/>
          <p:cNvCxnSpPr>
            <a:stCxn id="12" idx="2"/>
            <a:endCxn id="13" idx="0"/>
          </p:cNvCxnSpPr>
          <p:nvPr/>
        </p:nvCxnSpPr>
        <p:spPr>
          <a:xfrm>
            <a:off x="6743699" y="196595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ail → sum / 1"/>
          <p:cNvCxnSpPr>
            <a:stCxn id="11" idx="2"/>
            <a:endCxn id="12" idx="0"/>
          </p:cNvCxnSpPr>
          <p:nvPr/>
        </p:nvCxnSpPr>
        <p:spPr>
          <a:xfrm>
            <a:off x="6743699" y="179450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mpat → fail / 1"/>
          <p:cNvCxnSpPr>
            <a:stCxn id="10" idx="2"/>
            <a:endCxn id="11" idx="0"/>
          </p:cNvCxnSpPr>
          <p:nvPr/>
        </p:nvCxnSpPr>
        <p:spPr>
          <a:xfrm>
            <a:off x="6743699" y="16450407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nchor → compat / 1"/>
          <p:cNvCxnSpPr>
            <a:stCxn id="9" idx="2"/>
            <a:endCxn id="10" idx="0"/>
          </p:cNvCxnSpPr>
          <p:nvPr/>
        </p:nvCxnSpPr>
        <p:spPr>
          <a:xfrm>
            <a:off x="6743699" y="14735907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ond → anchor / 1"/>
          <p:cNvCxnSpPr>
            <a:stCxn id="8" idx="2"/>
            <a:endCxn id="9" idx="0"/>
          </p:cNvCxnSpPr>
          <p:nvPr/>
        </p:nvCxnSpPr>
        <p:spPr>
          <a:xfrm>
            <a:off x="6743699" y="13021407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m → bond / 1"/>
          <p:cNvCxnSpPr>
            <a:stCxn id="7" idx="2"/>
            <a:endCxn id="8" idx="0"/>
          </p:cNvCxnSpPr>
          <p:nvPr/>
        </p:nvCxnSpPr>
        <p:spPr>
          <a:xfrm>
            <a:off x="6743699" y="11043138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bar → tm / 1"/>
          <p:cNvCxnSpPr>
            <a:stCxn id="6" idx="2"/>
            <a:endCxn id="7" idx="0"/>
          </p:cNvCxnSpPr>
          <p:nvPr/>
        </p:nvCxnSpPr>
        <p:spPr>
          <a:xfrm>
            <a:off x="6743699" y="963636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s → bar / 1"/>
          <p:cNvCxnSpPr>
            <a:stCxn id="5" idx="2"/>
            <a:endCxn id="6" idx="0"/>
          </p:cNvCxnSpPr>
          <p:nvPr/>
        </p:nvCxnSpPr>
        <p:spPr>
          <a:xfrm>
            <a:off x="6743699" y="8009792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c → vs / 1"/>
          <p:cNvCxnSpPr>
            <a:stCxn id="4" idx="2"/>
            <a:endCxn id="5" idx="0"/>
          </p:cNvCxnSpPr>
          <p:nvPr/>
        </p:nvCxnSpPr>
        <p:spPr>
          <a:xfrm>
            <a:off x="6743699" y="6383215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rack → vc / 1"/>
          <p:cNvCxnSpPr>
            <a:stCxn id="3" idx="2"/>
            <a:endCxn id="4" idx="0"/>
          </p:cNvCxnSpPr>
          <p:nvPr/>
        </p:nvCxnSpPr>
        <p:spPr>
          <a:xfrm>
            <a:off x="6743699" y="4756637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art → crack / 1"/>
          <p:cNvCxnSpPr>
            <a:stCxn id="2" idx="2"/>
            <a:endCxn id="3" idx="0"/>
          </p:cNvCxnSpPr>
          <p:nvPr/>
        </p:nvCxnSpPr>
        <p:spPr>
          <a:xfrm>
            <a:off x="6743699" y="30860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tart"/>
          <p:cNvSpPr/>
          <p:nvPr/>
        </p:nvSpPr>
        <p:spPr>
          <a:xfrm>
            <a:off x="4237892" y="2162907"/>
            <a:ext cx="5011615" cy="923192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给定峰/谷目标剪力与已接受历史，选取试探 q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state：扫描上升符号变化及二分；不提交试探历史</a:t>
            </a:r>
          </a:p>
        </p:txBody>
      </p:sp>
      <p:sp>
        <p:nvSpPr>
          <p:cNvPr id="3" name="crack"/>
          <p:cNvSpPr/>
          <p:nvPr/>
        </p:nvSpPr>
        <p:spPr>
          <a:xfrm>
            <a:off x="4237892" y="3481753"/>
            <a:ext cx="5011615" cy="1274884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① 裂缝运动（当前代码的指定关系）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g(y)=(1−y/hc)^m；K=cosθ+r sinθ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w₀=q/K；v₀=rw₀；w(y)=w₀g(y)，v(y)=v₀g(y)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crack_deformation｜未实现S式7的PST/Green求解</a:t>
            </a:r>
          </a:p>
        </p:txBody>
      </p:sp>
      <p:sp>
        <p:nvSpPr>
          <p:cNvPr id="4" name="vc"/>
          <p:cNvSpPr/>
          <p:nvPr/>
        </p:nvSpPr>
        <p:spPr>
          <a:xfrm>
            <a:off x="4237892" y="5152292"/>
            <a:ext cx="5011615" cy="1230923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② 混凝土抗剪贡献（经验闭合，不是所给论文原式）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Vc=Vc0(1−exp(−q/qr))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×[ρc+(1−ρc)exp(−w₀/wc)](1−Dc)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trial｜各经验参数需标定</a:t>
            </a:r>
          </a:p>
        </p:txBody>
      </p:sp>
      <p:sp>
        <p:nvSpPr>
          <p:cNvPr id="5" name="vs"/>
          <p:cNvSpPr/>
          <p:nvPr/>
        </p:nvSpPr>
        <p:spPr>
          <a:xfrm>
            <a:off x="4237892" y="6778869"/>
            <a:ext cx="5011615" cy="123092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③ 穿缝箍筋贡献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εs,j=qg(yj)/ls；σs,j=min(Esεs,j,fy)；Vs=ΣAs,jσs,j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应变传力长度ls为代码假定；损伤达到1时该筋应力归零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trial｜应力上限/离散求和有R22式9a、9c背景</a:t>
            </a:r>
          </a:p>
        </p:txBody>
      </p:sp>
      <p:sp>
        <p:nvSpPr>
          <p:cNvPr id="6" name="bar"/>
          <p:cNvSpPr/>
          <p:nvPr/>
        </p:nvSpPr>
        <p:spPr>
          <a:xfrm>
            <a:off x="4237892" y="8405446"/>
            <a:ext cx="5011615" cy="123092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④ 对每根未失效FRP筋，计算裂缝运动投影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δj=qg(yj)[sin(θ+αj)−r cos(θ+αj)]/K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竖向筋αj=90°时：δj=qg(yj)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trial｜不是直接照搬S式8</a:t>
            </a:r>
          </a:p>
        </p:txBody>
      </p:sp>
      <p:sp>
        <p:nvSpPr>
          <p:cNvPr id="7" name="tm"/>
          <p:cNvSpPr/>
          <p:nvPr/>
        </p:nvSpPr>
        <p:spPr>
          <a:xfrm>
            <a:off x="4237892" y="10032023"/>
            <a:ext cx="5011615" cy="1011115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⑤ 由节点局部龄期更新 τm,i [F式2]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τm,i=max{0,τm,0[1−kf log₁₀max(Ni,1)]}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bond_strength；Ni为激活后局部循环数</a:t>
            </a:r>
          </a:p>
        </p:txBody>
      </p:sp>
      <p:sp>
        <p:nvSpPr>
          <p:cNvPr id="8" name="bond"/>
          <p:cNvSpPr/>
          <p:nvPr/>
        </p:nvSpPr>
        <p:spPr>
          <a:xfrm>
            <a:off x="4237892" y="11438792"/>
            <a:ext cx="5011615" cy="1582615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⑥ 三段黏结包络 [F式1]，令 tr=min(τr,τm,i)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τenv=τm,i·s/δm                       s≤δm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τenv=tr+(τm,i−tr)(δu−s)/(δu−δm)   δm&lt;s≤δu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τenv=tr                            s&gt;δu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bond：tr取min及历史割线规则为代码补充</a:t>
            </a:r>
          </a:p>
        </p:txBody>
      </p:sp>
      <p:sp>
        <p:nvSpPr>
          <p:cNvPr id="9" name="anchor"/>
          <p:cNvSpPr/>
          <p:nvPr/>
        </p:nvSpPr>
        <p:spPr>
          <a:xfrm>
            <a:off x="4237892" y="13417061"/>
            <a:ext cx="5011615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⑦ 双侧锚固离散求解与节点应力积分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dT/dx=−pfτ；ds/dx=−T/(EfAf)；自由端T=0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Ti(x)=pf∫[x,Li]τi(ξ)dξ；anchorage / anchor_mesh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积分原理：F式10、S式10；积分区间按本锚固段改写</a:t>
            </a:r>
          </a:p>
        </p:txBody>
      </p:sp>
      <p:sp>
        <p:nvSpPr>
          <p:cNvPr id="10" name="compat"/>
          <p:cNvSpPr/>
          <p:nvPr/>
        </p:nvSpPr>
        <p:spPr>
          <a:xfrm>
            <a:off x="4237892" y="15131561"/>
            <a:ext cx="5011615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⑧ 满足两侧协调与交点应变连续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s₁(0)+s₂(0)=δj [S式9d]；εf1(0)=εf2(0) [S式11]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同一根筋EfAf相同，因此T₁(0)=T₂(0)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数值迭代求解，未直接使用F式9b或S式9a–c解析解</a:t>
            </a:r>
          </a:p>
        </p:txBody>
      </p:sp>
      <p:sp>
        <p:nvSpPr>
          <p:cNvPr id="11" name="fail"/>
          <p:cNvSpPr/>
          <p:nvPr/>
        </p:nvSpPr>
        <p:spPr>
          <a:xfrm>
            <a:off x="4237892" y="16846061"/>
            <a:ext cx="5011615" cy="1099038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⑨ 检查本根筋脱黏、抗拉与用户保护层限值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失效筋贡献归零；重复④—⑨处理其他筋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trial：筋轴力上限为Af·ffu，目前没有FRP本体疲劳律</a:t>
            </a:r>
          </a:p>
        </p:txBody>
      </p:sp>
      <p:sp>
        <p:nvSpPr>
          <p:cNvPr id="12" name="sum"/>
          <p:cNvSpPr/>
          <p:nvPr/>
        </p:nvSpPr>
        <p:spPr>
          <a:xfrm>
            <a:off x="4237892" y="18340753"/>
            <a:ext cx="5011615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⑩ 汇总竖向FRP抗剪力及整体平衡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Vf=nfaces ΣTj sinαj；V=Vc+Vs+Vf=Q/2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总分解与E式1同一平衡思想；此处第三项是NSM筋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不使用ECC覆盖层的 Vef,σ+Vef,τ 分解</a:t>
            </a:r>
          </a:p>
        </p:txBody>
      </p:sp>
      <p:sp>
        <p:nvSpPr>
          <p:cNvPr id="13" name="ok"/>
          <p:cNvSpPr/>
          <p:nvPr/>
        </p:nvSpPr>
        <p:spPr>
          <a:xfrm>
            <a:off x="4237892" y="20055253"/>
            <a:ext cx="5011615" cy="1011115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局部求解有效，且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|V(q)−Q/2|≤forceTolerance？</a:t>
            </a:r>
          </a:p>
        </p:txBody>
      </p:sp>
      <p:sp>
        <p:nvSpPr>
          <p:cNvPr id="14" name="return"/>
          <p:cNvSpPr/>
          <p:nvPr/>
        </p:nvSpPr>
        <p:spPr>
          <a:xfrm>
            <a:off x="4237892" y="21505984"/>
            <a:ext cx="5011615" cy="879230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返回该峰/谷的平衡解：q、材料分量与局部场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供总控制器判断是否接受循环块</a:t>
            </a:r>
          </a:p>
        </p:txBody>
      </p:sp>
      <p:sp>
        <p:nvSpPr>
          <p:cNvPr id="15" name="more"/>
          <p:cNvSpPr/>
          <p:nvPr/>
        </p:nvSpPr>
        <p:spPr>
          <a:xfrm>
            <a:off x="10304584" y="20055253"/>
            <a:ext cx="2901461" cy="1011115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还有可继续的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扫描/二分搜索？</a:t>
            </a:r>
          </a:p>
        </p:txBody>
      </p:sp>
      <p:sp>
        <p:nvSpPr>
          <p:cNvPr id="16" name="diag"/>
          <p:cNvSpPr/>
          <p:nvPr/>
        </p:nvSpPr>
        <p:spPr>
          <a:xfrm>
            <a:off x="10304584" y="21505984"/>
            <a:ext cx="2901461" cy="1230923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返回分类诊断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无指定分支根 / 数值失败 / 分辨率限制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未把“无解”直接归为抗弯IC脱黏破坏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2730" y="20978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6076" y="2025308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63046" y="1025183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是：调整q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34346" y="20978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635369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Microsoft YaHei"/>
              </a:defRPr>
            </a:pPr>
            <a:r>
              <a:t>公式对应版｜抗剪平衡内部求解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123" y="23308407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Microsoft YaHei"/>
              </a:defRPr>
            </a:pPr>
            <a:r>
              <a:t>F：DOI 10.1016/j.ijfatigue.2019.04.039；S：DOI尾号0000953；E：DOI尾号CCENG-4395。橙色包含附加假定。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"/>
          <p:cNvSpPr/>
          <p:nvPr/>
        </p:nvSpPr>
        <p:spPr>
          <a:xfrm>
            <a:off x="2567353" y="4273061"/>
            <a:ext cx="9495692" cy="74734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你找出的公式，在当前抗剪代码中如何取舍</a:t>
            </a:r>
          </a:p>
        </p:txBody>
      </p:sp>
      <p:sp>
        <p:nvSpPr>
          <p:cNvPr id="3" name="b"/>
          <p:cNvSpPr/>
          <p:nvPr/>
        </p:nvSpPr>
        <p:spPr>
          <a:xfrm>
            <a:off x="2567353" y="5591907"/>
            <a:ext cx="9495692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采用：F式(1)三段包络、F式(2)局部疲劳退化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对应bond.m、bond_strength.m；0.75δm阈值用于active_nodes.m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注意代码对零龄期、负峰值与残余值另有数值处理</a:t>
            </a:r>
          </a:p>
        </p:txBody>
      </p:sp>
      <p:sp>
        <p:nvSpPr>
          <p:cNvPr id="4" name="c"/>
          <p:cNvSpPr/>
          <p:nvPr/>
        </p:nvSpPr>
        <p:spPr>
          <a:xfrm>
            <a:off x="2567353" y="7614138"/>
            <a:ext cx="9495692" cy="1494692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原理改写：F式(10)与S式(10)的黏结应力积分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原文半跨坐标改为每根筋裂缝交点两侧的局部坐标：Ti(x)=pf∫[x,Li]τi dξ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S式(9d)、(11)提供双侧滑移协调、交点应变连续的背景</a:t>
            </a:r>
          </a:p>
        </p:txBody>
      </p:sp>
      <p:sp>
        <p:nvSpPr>
          <p:cNvPr id="5" name="d"/>
          <p:cNvSpPr/>
          <p:nvPr/>
        </p:nvSpPr>
        <p:spPr>
          <a:xfrm>
            <a:off x="2567353" y="9812215"/>
            <a:ext cx="9495692" cy="1494692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当前未直接实现：F式(9b)解析系数矩阵、S式(9a–c)分段解析解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anchorage.m实际组装杆单元与黏结刚度，并进行固定点/Newton数值迭代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两种矩阵写法不能仅因外观相似就标为同一个方程</a:t>
            </a:r>
          </a:p>
        </p:txBody>
      </p:sp>
      <p:sp>
        <p:nvSpPr>
          <p:cNvPr id="6" name="e"/>
          <p:cNvSpPr/>
          <p:nvPr/>
        </p:nvSpPr>
        <p:spPr>
          <a:xfrm>
            <a:off x="2567353" y="12010292"/>
            <a:ext cx="9495692" cy="1494692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当前不纳入：F式(11)的Ps/Pd、F式(13)的半跨Ls/Ld关系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它们服务于纵向加固的抗弯IC脱黏模型；P也不是本抗剪算例的总加载力Q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当前代码没有按这些式子计算临界荷载和半跨软化/脱黏长度</a:t>
            </a:r>
          </a:p>
        </p:txBody>
      </p:sp>
      <p:sp>
        <p:nvSpPr>
          <p:cNvPr id="7" name="f"/>
          <p:cNvSpPr/>
          <p:nvPr/>
        </p:nvSpPr>
        <p:spPr>
          <a:xfrm>
            <a:off x="2567353" y="14208369"/>
            <a:ext cx="9495692" cy="1494692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当前不纳入：F式(14)的纵向加固梁挠度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竖向NSM抗剪不能直接使用该偏心纵向筋的弯曲挠度表达式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当前的q、裂缝法向开口w与该文挠度w不是同一个物理量</a:t>
            </a:r>
          </a:p>
        </p:txBody>
      </p:sp>
      <p:sp>
        <p:nvSpPr>
          <p:cNvPr id="8" name="g"/>
          <p:cNvSpPr/>
          <p:nvPr/>
        </p:nvSpPr>
        <p:spPr>
          <a:xfrm>
            <a:off x="2567353" y="16406446"/>
            <a:ext cx="9495692" cy="1582615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平衡思想可采用：E式(1) V=Vc+Vs+Vef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在本模型改写为V=Vc+Vs+Vf；Vf来自实际NSM筋竖向分量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E式(2)的Vef,σ+Vef,τ用于ECC连续覆盖层，当前NSM筋代码未实现</a:t>
            </a:r>
          </a:p>
        </p:txBody>
      </p:sp>
      <p:sp>
        <p:nvSpPr>
          <p:cNvPr id="9" name="h"/>
          <p:cNvSpPr/>
          <p:nvPr/>
        </p:nvSpPr>
        <p:spPr>
          <a:xfrm>
            <a:off x="2567353" y="18780369"/>
            <a:ext cx="9495692" cy="1406769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图示的是当前代码的计算路线，源码没有改变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若要真正实现F式(9b)、(11)、(13)或S完整裂缝理论，需要另行建模与验证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本轮不将这些尚未实现的公式画成已经运行的计算步骤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3638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Microsoft YaHei"/>
              </a:defRPr>
            </a:pPr>
            <a:r>
              <a:t>公式采用范围与当前实现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123" y="21330138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Microsoft YaHei"/>
              </a:defRPr>
            </a:pPr>
            <a:r>
              <a:t>R22：DOI尾号0001251，支持穿缝筋应力与离散贡献背景；本轮保留当前源码，仅重画公式对应的计算逻辑。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
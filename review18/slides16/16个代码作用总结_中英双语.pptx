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main_drive.m</a:t>
            </a:r>
          </a:p>
          <a:p>
            <a:r>
              <a:t>设置本次算例并启动整个计算。</a:t>
            </a:r>
          </a:p>
          <a:p>
            <a:r>
              <a:t>Configure a case and start the calculation.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parameters.m</a:t>
            </a:r>
          </a:p>
          <a:p>
            <a:r>
              <a:t>集中提供模型和计算的默认设置。</a:t>
            </a:r>
          </a:p>
          <a:p>
            <a:r>
              <a:t>Provide the default model and analysis settings.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read_and_calculate.m</a:t>
            </a:r>
          </a:p>
          <a:p>
            <a:r>
              <a:t>连接参数读取、疲劳计算和结果导出。</a:t>
            </a:r>
          </a:p>
          <a:p>
            <a:r>
              <a:t>Link parameter loading, fatigue analysis and result export.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prepare_parameters.m</a:t>
            </a:r>
          </a:p>
          <a:p>
            <a:r>
              <a:t>检查输入并建立求解需要的几何信息。</a:t>
            </a:r>
          </a:p>
          <a:p>
            <a:r>
              <a:t>Check inputs and prepare the geometry used by the solver.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fatigue_calculate.m</a:t>
            </a:r>
          </a:p>
          <a:p>
            <a:r>
              <a:t>组织峰谷平衡、损伤更新和循环推进。</a:t>
            </a:r>
          </a:p>
          <a:p>
            <a:r>
              <a:t>Coordinate load-state equilibrium, history updates and cycle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capacity_scan.m</a:t>
            </a:r>
          </a:p>
          <a:p>
            <a:r>
              <a:t>提供当前历史下的可选静力路径诊断。</a:t>
            </a:r>
          </a:p>
          <a:p>
            <a:r>
              <a:t>Provide an optional static-path diagnostic for the current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state.m</a:t>
            </a:r>
          </a:p>
          <a:p>
            <a:r>
              <a:t>寻找满足目标剪力的裂缝竖向位移差。</a:t>
            </a:r>
          </a:p>
          <a:p>
            <a:r>
              <a:t>Find the vertical crack jump that balances the target shear.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trial.m</a:t>
            </a:r>
          </a:p>
          <a:p>
            <a:r>
              <a:t>在给定裂缝位移下计算各项抗剪贡献。</a:t>
            </a:r>
          </a:p>
          <a:p>
            <a:r>
              <a:t>Evaluate shear-resistance components at a prescribed crack jump.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crack_deformation.m</a:t>
            </a:r>
          </a:p>
          <a:p>
            <a:r>
              <a:t>由裂缝竖向位移尺度得到指定的变形分布。</a:t>
            </a:r>
          </a:p>
          <a:p>
            <a:r>
              <a:t>Generate prescribed crack profiles from the vertical crack-jump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bond_strength.m</a:t>
            </a:r>
          </a:p>
          <a:p>
            <a:r>
              <a:t>按节点局部循环数计算退化后的黏结峰值。</a:t>
            </a:r>
          </a:p>
          <a:p>
            <a:r>
              <a:t>Calculate degraded peak bond stress from local cycle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anchorage.m</a:t>
            </a:r>
          </a:p>
          <a:p>
            <a:r>
              <a:t>求裂缝两侧锚固段的滑移和筋力。</a:t>
            </a:r>
          </a:p>
          <a:p>
            <a:r>
              <a:t>Solve slip and bar force on both sides of the crack.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anchor_mesh.m</a:t>
            </a:r>
          </a:p>
          <a:p>
            <a:r>
              <a:t>为一个锚固段建立一维数值离散。</a:t>
            </a:r>
          </a:p>
          <a:p>
            <a:r>
              <a:t>Create a one-dimensional discretization of an anchor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bond.m</a:t>
            </a:r>
          </a:p>
          <a:p>
            <a:r>
              <a:t>根据历史最大滑移计算黏结包络和刚度。</a:t>
            </a:r>
          </a:p>
          <a:p>
            <a:r>
              <a:t>Evaluate the bond envelope and stiffness from maximum slip history.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active_nodes.m</a:t>
            </a:r>
          </a:p>
          <a:p>
            <a:r>
              <a:t>判断哪些节点可以累计本步疲劳循环。</a:t>
            </a:r>
          </a:p>
          <a:p>
            <a:r>
              <a:t>Identify nodes eligible to accumulate local fatigue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save_snapshot.m</a:t>
            </a:r>
          </a:p>
          <a:p>
            <a:r>
              <a:t>整理选定循环数的响应和局部场数据。</a:t>
            </a:r>
          </a:p>
          <a:p>
            <a:r>
              <a:t>Assemble response and local-field data at selected cycle counts.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export_results.m</a:t>
            </a:r>
          </a:p>
          <a:p>
            <a:r>
              <a:t>将计算结果转换为图像和可读取的数据文件。</a:t>
            </a:r>
          </a:p>
          <a:p>
            <a:r>
              <a:t>Convert analysis results into figures and readable data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main_drive.m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主驱动脚本  |  Main driver script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设置本次算例并启动整个计算。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选择条材或杆材。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按需覆盖本次运行参数。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调用统一入口，保留计算结果。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Configure a case and start the calculation.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Select FRP strips or rods.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Optionally override parameters for this run.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Call the main entry and retain the results.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启动与输入 /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01/16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parameters.m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默认参数  |  Default parameters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集中提供模型和计算的默认设置。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定义几何、材料、黏结和荷载参数。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设置循环数及数值控制参数。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设置绘图和文件导出选项。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Provide the default model and analysis settings.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Define geometry, materials, bond and loading parameters.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Set cycle limits and numerical controls.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Set plotting and file-export options.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启动与输入 /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02/16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read_and_calculate.m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统一入口  |  Calculation entry 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连接参数读取、疲劳计算和结果导出。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读取默认参数并应用本次覆盖值。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调用疲劳计算主函数。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根据开关调用绘图与导出。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Link parameter loading, fatigue analysis and result export.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Load defaults and apply run-specific overrides.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Call the fatigue analysis controller.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Trigger plotting and export when enabled.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启动与输入 /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03/16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prepare_parameters.m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参数检查与几何准备  |  Parameter checks and geometry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检查输入并建立求解需要的几何信息。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检查参数范围和相互关系。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确定裂缝与FRP筋的真实交点。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计算两侧锚固长度及穿缝箍筋位置。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Check inputs and prepare the geometry used by the solver.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Check parameter ranges and consistency.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Locate actual crack–FRP intersections.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Calculate anchor lengths and intersecting stirrup positions.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模型准备 / Model preparation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04/16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fatigue_calculate.m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疲劳计算总控制  |  Fatigue analysis controller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组织峰谷平衡、损伤更新和循环推进。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初始化历史并求初始峰谷状态。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提出候选循环块，必要时减半重试。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接受有效状态并记录结果和停止原因。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Coordinate load-state equilibrium, history updates and cycle progression.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Initialize history and solve the initial peak and valley states.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Propose cycle blocks and halve them when required.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Accept valid states and record results and stop reasons.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循环控制 / Cycle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05/16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capacity_scan.m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初始抗剪响应扫描  |  Initial shear-response scan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提供当前历史下的可选静力路径诊断。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按递增裂缝位移计算抗剪响应。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保留成功点的加载历史。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记录有效采样峰值与数值失败点。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Provide an optional static-path diagnostic for the current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Sample shear resistance at increasing crack displacement.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Carry forward successful loading history.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Record the sampled peak and numerical failures.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静力诊断 / Static diagnostic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06/16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state.m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抗剪平衡求解  |  Shear-equilibrium solver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寻找满足目标剪力的裂缝竖向位移差。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设置峰值或谷值的搜索范围。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扫描并二分搜索有效平衡根。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返回平衡响应或具体求解诊断。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Find the vertical crack jump that balances the target shear.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Set the peak- or valley-state search interval.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Scan and bisect to find a valid equilibrium root.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Return the balanced response or a specific diagnostic.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平衡求解 / Equilibrium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07/16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trial.m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单次抗剪响应计算  |  Single trial response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在给定裂缝位移下计算各项抗剪贡献。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计算混凝土和箍筋贡献。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逐根求FRP锚固响应并检查筋失效。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汇总FRP竖向力与总抗剪力。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Evaluate shear-resistance components at a prescribed crack jump.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Calculate concrete and stirrup contributions.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Solve each FRP anchor response and check bar failure.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Sum FRP vertical forces and total shear resistance.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局部力学 / Mechanical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08/16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crack_deformation.m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裂缝变形分布  |  Crack-deformation profiles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由裂缝竖向位移尺度得到指定的变形分布。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建立沿裂缝高度的形状分布。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计算法向张开和切向滑移。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返回竖向、水平位移差及绘图数据。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Generate prescribed crack profiles from the vertical crack-jump scale.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Define the profile along the crack height.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Calculate normal opening and tangential sliding.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Return vertical/horizontal jumps and profile data.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局部力学 / Mechanical response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09/16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bond_strength.m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黏结峰值疲劳退化  |  Fatigue degradation of bond peaks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按节点局部循环数计算退化后的黏结峰值。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检查局部循环历史。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区分杆材和条材的退化系数。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返回非负的节点峰值黏结应力。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Calculate degraded peak bond stress from local cycle counts.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Check the local cycle history.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Use the rod- or strip-specific degradation coefficient.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Return nonnegative nodal peak bond stresses.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界面疲劳 / Interface fatigue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anchorage.m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双侧锚固求解  |  Two-sided anchorage solver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求裂缝两侧锚固段的滑移和筋力。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组装杆单元和黏结刚度。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迭代满足两侧滑移协调与力平衡。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返回局部应力、应变及脱黏状态。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Solve slip and bar force on both sides of the crack.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Assemble bar-element and bond stiffness.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Iterate to satisfy slip compatibility and force balance.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Return local stresses, strains and debonding status.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锚固与黏结 / Anchorage and bond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anchor_mesh.m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锚固网格  |  Anchorage mesh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为一个锚固段建立一维数值离散。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按设定单元数生成节点位置。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计算各单元长度。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提供梯形积分的节点权重。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Create a one-dimensional discretization of an anchor segment.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Generate nodes using the specified element count.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Calculate element lengths.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Provide nodal trapezoidal integration weights.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锚固与黏结 / Anchorage and bond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bond.m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黏结本构关系  |  Bond constitutive relation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根据历史最大滑移计算黏结包络和刚度。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判断弹性、软化或残余阶段。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计算包络应力及割线刚度。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供锚固求解计算当前黏结应力。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Evaluate the bond envelope and stiffness from maximum slip history.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Identify the elastic, softening or residual branch.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Calculate envelope stress and secant stiffness.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Supply stiffness for current anchor-stress evaluation.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锚固与黏结 / Anchorage and bond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active_nodes.m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疲劳活跃节点判断  |  Active fatigue-node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判断哪些节点可以累计本步疲劳循环。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检查滑移阈值和历史激活记录。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检查峰谷滑移差是否超过容差。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返回活跃标志及滑移差。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Identify nodes eligible to accumulate local fatigue cycles.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Check the slip threshold and previous activation.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Check that the peak–valley slip range exceeds tolerance.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Return active-node flags and slip ranges.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界面疲劳 / Interface fatigue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save_snapshot.m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计算快照整理  |  Response snapshot assembly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整理选定循环数的响应和局部场数据。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按筋、锚固侧和节点整理局部场。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记录箍筋响应及裂缝变形分布。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返回快照结构体，供后续绘图和导出。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Assemble response and local-field data at selected cycle counts.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Organize fields by bar, anchor side and node.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Record stirrup responses and crack profiles.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Return snapshot data for plotting and export.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结果处理 /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108813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0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export_results.m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9264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绘图与结果导出  |  Plotting and result export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58384" cy="4297680"/>
          </a:xfrm>
          <a:prstGeom prst="roundRect">
            <a:avLst/>
          </a:prstGeom>
          <a:solidFill>
            <a:srgbClr val="EA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中文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将计算结果转换为图像和可读取的数据文件。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绘制循环历史、几何和局部场。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导出MAT、CSV和PNG。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记录计算状态、残差及失效信息。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81928" y="1737360"/>
            <a:ext cx="5358384" cy="4297680"/>
          </a:xfrm>
          <a:prstGeom prst="roundRect">
            <a:avLst/>
          </a:prstGeom>
          <a:solidFill>
            <a:srgbClr val="EA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47672"/>
            <a:ext cx="490118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700" b="1">
                <a:solidFill>
                  <a:srgbClr val="173A5E"/>
                </a:solidFill>
                <a:latin typeface="Arial"/>
              </a:defRPr>
            </a:pPr>
            <a:r>
              <a:rPr lang="zh-CN">
                <a:ea typeface="Microsoft YaHei"/>
              </a:rPr>
              <a:t>English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41448"/>
            <a:ext cx="4901184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Convert analysis results into figures and readable data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3621024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Plot cycle histories, geometry and local profiles.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4334256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Export MAT, CSV and PNG 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5047488"/>
            <a:ext cx="4864608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263A4D"/>
                </a:solidFill>
                <a:latin typeface="Arial"/>
              </a:defRPr>
            </a:pPr>
            <a:r>
              <a:rPr lang="zh-CN">
                <a:ea typeface="Microsoft YaHei"/>
              </a:rPr>
              <a:t>• Record analysis status, residuals and failure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0698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结果处理 /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35508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0">
                <a:solidFill>
                  <a:srgbClr val="63758A"/>
                </a:solidFill>
                <a:latin typeface="Arial"/>
              </a:defRPr>
            </a:pPr>
            <a:r>
              <a:rPr lang="zh-CN">
                <a:ea typeface="Microsoft YaHei"/>
              </a:rP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
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9" name="save_snapshot → crack_deformation"/>
          <p:cNvCxnSpPr>
            <a:stCxn id="14" idx="2"/>
            <a:endCxn id="18" idx="0"/>
          </p:cNvCxnSpPr>
          <p:nvPr/>
        </p:nvCxnSpPr>
        <p:spPr>
          <a:xfrm>
            <a:off x="12641580" y="4334256"/>
            <a:ext cx="0" cy="165506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nchorage → bond"/>
          <p:cNvCxnSpPr>
            <a:stCxn id="17" idx="2"/>
            <a:endCxn id="20" idx="0"/>
          </p:cNvCxnSpPr>
          <p:nvPr/>
        </p:nvCxnSpPr>
        <p:spPr>
          <a:xfrm>
            <a:off x="7063740" y="6665976"/>
            <a:ext cx="1417320" cy="51206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nchorage → anchor_mesh"/>
          <p:cNvCxnSpPr>
            <a:stCxn id="17" idx="2"/>
            <a:endCxn id="19" idx="0"/>
          </p:cNvCxnSpPr>
          <p:nvPr/>
        </p:nvCxnSpPr>
        <p:spPr>
          <a:xfrm flipH="1">
            <a:off x="5692140" y="6665976"/>
            <a:ext cx="1371600" cy="51206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rial → anchorage"/>
          <p:cNvCxnSpPr>
            <a:stCxn id="15" idx="2"/>
            <a:endCxn id="17" idx="0"/>
          </p:cNvCxnSpPr>
          <p:nvPr/>
        </p:nvCxnSpPr>
        <p:spPr>
          <a:xfrm>
            <a:off x="7063740" y="5477256"/>
            <a:ext cx="0" cy="51206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rial → bond_strength"/>
          <p:cNvCxnSpPr>
            <a:stCxn id="15" idx="2"/>
            <a:endCxn id="16" idx="0"/>
          </p:cNvCxnSpPr>
          <p:nvPr/>
        </p:nvCxnSpPr>
        <p:spPr>
          <a:xfrm flipH="1">
            <a:off x="4274820" y="5477256"/>
            <a:ext cx="2788920" cy="51206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trial → crack_deformation"/>
          <p:cNvCxnSpPr>
            <a:stCxn id="15" idx="2"/>
            <a:endCxn id="18" idx="0"/>
          </p:cNvCxnSpPr>
          <p:nvPr/>
        </p:nvCxnSpPr>
        <p:spPr>
          <a:xfrm>
            <a:off x="7063740" y="5477256"/>
            <a:ext cx="5577840" cy="51206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ate → trial"/>
          <p:cNvCxnSpPr>
            <a:stCxn id="12" idx="2"/>
            <a:endCxn id="15" idx="0"/>
          </p:cNvCxnSpPr>
          <p:nvPr/>
        </p:nvCxnSpPr>
        <p:spPr>
          <a:xfrm>
            <a:off x="7063740" y="4334256"/>
            <a:ext cx="0" cy="46634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apacity_scan → trial"/>
          <p:cNvCxnSpPr>
            <a:stCxn id="11" idx="2"/>
            <a:endCxn id="15" idx="0"/>
          </p:cNvCxnSpPr>
          <p:nvPr/>
        </p:nvCxnSpPr>
        <p:spPr>
          <a:xfrm>
            <a:off x="4274820" y="4334256"/>
            <a:ext cx="2788920" cy="46634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atigue_calculate → save_snapshot"/>
          <p:cNvCxnSpPr>
            <a:stCxn id="8" idx="2"/>
            <a:endCxn id="14" idx="0"/>
          </p:cNvCxnSpPr>
          <p:nvPr/>
        </p:nvCxnSpPr>
        <p:spPr>
          <a:xfrm>
            <a:off x="7063740" y="3236976"/>
            <a:ext cx="5577840" cy="42062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atigue_calculate → active_nodes"/>
          <p:cNvCxnSpPr>
            <a:stCxn id="8" idx="2"/>
            <a:endCxn id="13" idx="0"/>
          </p:cNvCxnSpPr>
          <p:nvPr/>
        </p:nvCxnSpPr>
        <p:spPr>
          <a:xfrm>
            <a:off x="7063740" y="3236976"/>
            <a:ext cx="2788920" cy="42062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atigue_calculate → state"/>
          <p:cNvCxnSpPr>
            <a:stCxn id="8" idx="2"/>
            <a:endCxn id="12" idx="0"/>
          </p:cNvCxnSpPr>
          <p:nvPr/>
        </p:nvCxnSpPr>
        <p:spPr>
          <a:xfrm>
            <a:off x="7063740" y="3236976"/>
            <a:ext cx="0" cy="42062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atigue_calculate → capacity_scan"/>
          <p:cNvCxnSpPr>
            <a:stCxn id="8" idx="2"/>
            <a:endCxn id="11" idx="0"/>
          </p:cNvCxnSpPr>
          <p:nvPr/>
        </p:nvCxnSpPr>
        <p:spPr>
          <a:xfrm flipH="1">
            <a:off x="4274820" y="3236976"/>
            <a:ext cx="2788920" cy="42062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atigue_calculate → prepare_parameters"/>
          <p:cNvCxnSpPr>
            <a:stCxn id="8" idx="2"/>
            <a:endCxn id="10" idx="0"/>
          </p:cNvCxnSpPr>
          <p:nvPr/>
        </p:nvCxnSpPr>
        <p:spPr>
          <a:xfrm flipH="1">
            <a:off x="1485900" y="3236976"/>
            <a:ext cx="5577840" cy="42062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ad_and_calculate → export_results"/>
          <p:cNvCxnSpPr>
            <a:stCxn id="6" idx="2"/>
            <a:endCxn id="9" idx="0"/>
          </p:cNvCxnSpPr>
          <p:nvPr/>
        </p:nvCxnSpPr>
        <p:spPr>
          <a:xfrm>
            <a:off x="7063740" y="2322576"/>
            <a:ext cx="5577840" cy="23774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ad_and_calculate → fatigue_calculate"/>
          <p:cNvCxnSpPr>
            <a:stCxn id="6" idx="2"/>
            <a:endCxn id="8" idx="0"/>
          </p:cNvCxnSpPr>
          <p:nvPr/>
        </p:nvCxnSpPr>
        <p:spPr>
          <a:xfrm>
            <a:off x="7063740" y="2322576"/>
            <a:ext cx="0" cy="23774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ad_and_calculate → parameters"/>
          <p:cNvCxnSpPr>
            <a:stCxn id="6" idx="2"/>
            <a:endCxn id="7" idx="0"/>
          </p:cNvCxnSpPr>
          <p:nvPr/>
        </p:nvCxnSpPr>
        <p:spPr>
          <a:xfrm flipH="1">
            <a:off x="4274820" y="2322576"/>
            <a:ext cx="2788920" cy="23774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ain_drive → read_and_calculate"/>
          <p:cNvCxnSpPr>
            <a:stCxn id="5" idx="2"/>
            <a:endCxn id="6" idx="0"/>
          </p:cNvCxnSpPr>
          <p:nvPr/>
        </p:nvCxnSpPr>
        <p:spPr>
          <a:xfrm>
            <a:off x="7063740" y="1453896"/>
            <a:ext cx="0" cy="192024"/>
          </a:xfrm>
          <a:prstGeom prst="line">
            <a:avLst/>
          </a:prstGeom>
          <a:ln w="15240">
            <a:solidFill>
              <a:srgbClr val="6075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0" y="109728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>
                <a:solidFill>
                  <a:srgbClr val="18334D"/>
                </a:solidFill>
                <a:latin typeface="Microsoft YaHei"/>
              </a:defRPr>
            </a:pPr>
            <a:r>
              <a:t>18 个 MATLAB 文件之间的调用逻辑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50392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18334D"/>
                </a:solidFill>
                <a:latin typeface="Microsoft YaHei"/>
              </a:defRPr>
            </a:pPr>
            <a:r>
              <a:t>箭头表示直接调用；灰色文件未接入主流程。文字、框和箭头均可单独编辑。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550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8334D"/>
                </a:solidFill>
                <a:latin typeface="Microsoft YaHei"/>
              </a:defRPr>
            </a:pPr>
            <a:r>
              <a:t>未接入主流程</a:t>
            </a:r>
          </a:p>
        </p:txBody>
      </p:sp>
      <p:sp>
        <p:nvSpPr>
          <p:cNvPr id="5" name="main_drive.m"/>
          <p:cNvSpPr/>
          <p:nvPr/>
        </p:nvSpPr>
        <p:spPr>
          <a:xfrm>
            <a:off x="5852160" y="77724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main_drive.m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主驱动脚本</a:t>
            </a:r>
          </a:p>
        </p:txBody>
      </p:sp>
      <p:sp>
        <p:nvSpPr>
          <p:cNvPr id="6" name="read_and_calculate.m"/>
          <p:cNvSpPr/>
          <p:nvPr/>
        </p:nvSpPr>
        <p:spPr>
          <a:xfrm>
            <a:off x="5852160" y="164592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read_and_calculate.m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读取参数、启动计算及导出</a:t>
            </a:r>
          </a:p>
        </p:txBody>
      </p:sp>
      <p:sp>
        <p:nvSpPr>
          <p:cNvPr id="7" name="parameters.m"/>
          <p:cNvSpPr/>
          <p:nvPr/>
        </p:nvSpPr>
        <p:spPr>
          <a:xfrm>
            <a:off x="3063240" y="256032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parameters.m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提供默认参数</a:t>
            </a:r>
          </a:p>
        </p:txBody>
      </p:sp>
      <p:sp>
        <p:nvSpPr>
          <p:cNvPr id="8" name="fatigue_calculate.m"/>
          <p:cNvSpPr/>
          <p:nvPr/>
        </p:nvSpPr>
        <p:spPr>
          <a:xfrm>
            <a:off x="5852160" y="2560320"/>
            <a:ext cx="2423160" cy="676656"/>
          </a:xfrm>
          <a:prstGeom prst="roundRect">
            <a:avLst/>
          </a:prstGeom>
          <a:solidFill>
            <a:srgbClr val="DCEB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fatigue_calculate.m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控制疲劳循环与历史更新</a:t>
            </a:r>
          </a:p>
        </p:txBody>
      </p:sp>
      <p:sp>
        <p:nvSpPr>
          <p:cNvPr id="9" name="export_results.m"/>
          <p:cNvSpPr/>
          <p:nvPr/>
        </p:nvSpPr>
        <p:spPr>
          <a:xfrm>
            <a:off x="11430000" y="256032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export_results.m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绘图、导出结果</a:t>
            </a:r>
          </a:p>
        </p:txBody>
      </p:sp>
      <p:sp>
        <p:nvSpPr>
          <p:cNvPr id="10" name="prepare_parameters.m"/>
          <p:cNvSpPr/>
          <p:nvPr/>
        </p:nvSpPr>
        <p:spPr>
          <a:xfrm>
            <a:off x="274320" y="365760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prepare_parameters.m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检查参数、准备几何</a:t>
            </a:r>
          </a:p>
        </p:txBody>
      </p:sp>
      <p:sp>
        <p:nvSpPr>
          <p:cNvPr id="11" name="capacity_scan.m"/>
          <p:cNvSpPr/>
          <p:nvPr/>
        </p:nvSpPr>
        <p:spPr>
          <a:xfrm>
            <a:off x="3063240" y="365760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capacity_scan.m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可选：初始承载路径扫描</a:t>
            </a:r>
          </a:p>
        </p:txBody>
      </p:sp>
      <p:sp>
        <p:nvSpPr>
          <p:cNvPr id="12" name="state.m"/>
          <p:cNvSpPr/>
          <p:nvPr/>
        </p:nvSpPr>
        <p:spPr>
          <a:xfrm>
            <a:off x="5852160" y="365760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state.m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求峰值、谷值的抗剪平衡</a:t>
            </a:r>
          </a:p>
        </p:txBody>
      </p:sp>
      <p:sp>
        <p:nvSpPr>
          <p:cNvPr id="13" name="active_nodes.m"/>
          <p:cNvSpPr/>
          <p:nvPr/>
        </p:nvSpPr>
        <p:spPr>
          <a:xfrm>
            <a:off x="8641080" y="365760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active_nodes.m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选择疲劳活跃节点</a:t>
            </a:r>
          </a:p>
        </p:txBody>
      </p:sp>
      <p:sp>
        <p:nvSpPr>
          <p:cNvPr id="14" name="save_snapshot.m"/>
          <p:cNvSpPr/>
          <p:nvPr/>
        </p:nvSpPr>
        <p:spPr>
          <a:xfrm>
            <a:off x="11430000" y="3657600"/>
            <a:ext cx="2423160" cy="676656"/>
          </a:xfrm>
          <a:prstGeom prst="roundRect">
            <a:avLst/>
          </a:prstGeom>
          <a:solidFill>
            <a:srgbClr val="EAF2FF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save_snapshot.m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整理指定循环的局部场</a:t>
            </a:r>
          </a:p>
        </p:txBody>
      </p:sp>
      <p:sp>
        <p:nvSpPr>
          <p:cNvPr id="15" name="trial.m"/>
          <p:cNvSpPr/>
          <p:nvPr/>
        </p:nvSpPr>
        <p:spPr>
          <a:xfrm>
            <a:off x="5852160" y="4800600"/>
            <a:ext cx="2423160" cy="676656"/>
          </a:xfrm>
          <a:prstGeom prst="roundRect">
            <a:avLst/>
          </a:prstGeom>
          <a:solidFill>
            <a:srgbClr val="E6F4EA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trial.m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给定 q，计算一次抗剪响应</a:t>
            </a:r>
          </a:p>
        </p:txBody>
      </p:sp>
      <p:sp>
        <p:nvSpPr>
          <p:cNvPr id="16" name="bond_strength.m"/>
          <p:cNvSpPr/>
          <p:nvPr/>
        </p:nvSpPr>
        <p:spPr>
          <a:xfrm>
            <a:off x="3063240" y="5989320"/>
            <a:ext cx="2423160" cy="676656"/>
          </a:xfrm>
          <a:prstGeom prst="roundRect">
            <a:avLst/>
          </a:prstGeom>
          <a:solidFill>
            <a:srgbClr val="E6F4EA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bond_strength.m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由局部循环数求退化峰值</a:t>
            </a:r>
          </a:p>
        </p:txBody>
      </p:sp>
      <p:sp>
        <p:nvSpPr>
          <p:cNvPr id="17" name="anchorage.m"/>
          <p:cNvSpPr/>
          <p:nvPr/>
        </p:nvSpPr>
        <p:spPr>
          <a:xfrm>
            <a:off x="5852160" y="5989320"/>
            <a:ext cx="2423160" cy="676656"/>
          </a:xfrm>
          <a:prstGeom prst="roundRect">
            <a:avLst/>
          </a:prstGeom>
          <a:solidFill>
            <a:srgbClr val="E6F4EA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anchorage.m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求每根筋的双侧锚固响应</a:t>
            </a:r>
          </a:p>
        </p:txBody>
      </p:sp>
      <p:sp>
        <p:nvSpPr>
          <p:cNvPr id="18" name="crack_deformation.m"/>
          <p:cNvSpPr/>
          <p:nvPr/>
        </p:nvSpPr>
        <p:spPr>
          <a:xfrm>
            <a:off x="11430000" y="5989320"/>
            <a:ext cx="2423160" cy="676656"/>
          </a:xfrm>
          <a:prstGeom prst="roundRect">
            <a:avLst/>
          </a:prstGeom>
          <a:solidFill>
            <a:srgbClr val="FFF0D9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crack_deformation.m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计算裂缝张开与滑移分布</a:t>
            </a:r>
          </a:p>
        </p:txBody>
      </p:sp>
      <p:sp>
        <p:nvSpPr>
          <p:cNvPr id="19" name="anchor_mesh.m"/>
          <p:cNvSpPr/>
          <p:nvPr/>
        </p:nvSpPr>
        <p:spPr>
          <a:xfrm>
            <a:off x="4480560" y="7178040"/>
            <a:ext cx="2423160" cy="676656"/>
          </a:xfrm>
          <a:prstGeom prst="roundRect">
            <a:avLst/>
          </a:prstGeom>
          <a:solidFill>
            <a:srgbClr val="E6F4EA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anchor_mesh.m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生成锚固节点与积分权重</a:t>
            </a:r>
          </a:p>
        </p:txBody>
      </p:sp>
      <p:sp>
        <p:nvSpPr>
          <p:cNvPr id="20" name="bond.m"/>
          <p:cNvSpPr/>
          <p:nvPr/>
        </p:nvSpPr>
        <p:spPr>
          <a:xfrm>
            <a:off x="7269480" y="7178040"/>
            <a:ext cx="2423160" cy="676656"/>
          </a:xfrm>
          <a:prstGeom prst="roundRect">
            <a:avLst/>
          </a:prstGeom>
          <a:solidFill>
            <a:srgbClr val="E6F4EA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bond.m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黏结应力、刚度和阶段</a:t>
            </a:r>
          </a:p>
        </p:txBody>
      </p:sp>
      <p:sp>
        <p:nvSpPr>
          <p:cNvPr id="21" name="beam_load.m"/>
          <p:cNvSpPr/>
          <p:nvPr/>
        </p:nvSpPr>
        <p:spPr>
          <a:xfrm>
            <a:off x="274320" y="6766560"/>
            <a:ext cx="2423160" cy="676656"/>
          </a:xfrm>
          <a:prstGeom prst="roundRect">
            <a:avLst/>
          </a:prstGeom>
          <a:solidFill>
            <a:srgbClr val="F1F1F1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beam_load.m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辅助计算弯矩、剪力</a:t>
            </a:r>
          </a:p>
        </p:txBody>
      </p:sp>
      <p:sp>
        <p:nvSpPr>
          <p:cNvPr id="22" name="shearfoce.m"/>
          <p:cNvSpPr/>
          <p:nvPr/>
        </p:nvSpPr>
        <p:spPr>
          <a:xfrm>
            <a:off x="274320" y="7635240"/>
            <a:ext cx="2423160" cy="676656"/>
          </a:xfrm>
          <a:prstGeom prst="roundRect">
            <a:avLst/>
          </a:prstGeom>
          <a:solidFill>
            <a:srgbClr val="F1F1F1"/>
          </a:solidFill>
          <a:ln>
            <a:solidFill>
              <a:srgbClr val="5E7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  <a:defRPr sz="1400">
                <a:latin typeface="Microsoft YaHei"/>
              </a:defRPr>
            </a:pPr>
            <a:r>
              <a:t>shearfoce.m</a:t>
            </a:r>
          </a:p>
          <a:p>
            <a:pPr algn="ctr">
              <a:spcAft>
                <a:spcPts val="100"/>
              </a:spcAft>
              <a:defRPr sz="1200">
                <a:latin typeface="Microsoft YaHei"/>
              </a:defRPr>
            </a:pPr>
            <a:r>
              <a:t>额外桁架对照，可删除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
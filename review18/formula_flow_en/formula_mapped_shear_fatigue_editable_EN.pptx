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2560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74" name="stop → output / 2"/>
          <p:cNvCxnSpPr>
            <a:endCxn id="17" idx="3"/>
          </p:cNvCxnSpPr>
          <p:nvPr/>
        </p:nvCxnSpPr>
        <p:spPr>
          <a:xfrm flipH="1" flipV="1">
            <a:off x="9249507" y="22605022"/>
            <a:ext cx="2505808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op → output / 1"/>
          <p:cNvCxnSpPr>
            <a:stCxn id="19" idx="2"/>
          </p:cNvCxnSpPr>
          <p:nvPr/>
        </p:nvCxnSpPr>
        <p:spPr>
          <a:xfrm>
            <a:off x="11755314" y="20714676"/>
            <a:ext cx="1" cy="1890347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accept → limit / 3"/>
          <p:cNvCxnSpPr>
            <a:endCxn id="6" idx="1"/>
          </p:cNvCxnSpPr>
          <p:nvPr/>
        </p:nvCxnSpPr>
        <p:spPr>
          <a:xfrm>
            <a:off x="3754315" y="7570176"/>
            <a:ext cx="483577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accept → limit / 2"/>
          <p:cNvCxnSpPr/>
          <p:nvPr/>
        </p:nvCxnSpPr>
        <p:spPr>
          <a:xfrm flipV="1">
            <a:off x="3754315" y="7570176"/>
            <a:ext cx="0" cy="13496193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accept → limit / 1"/>
          <p:cNvCxnSpPr>
            <a:stCxn id="16" idx="1"/>
          </p:cNvCxnSpPr>
          <p:nvPr/>
        </p:nvCxnSpPr>
        <p:spPr>
          <a:xfrm flipH="1">
            <a:off x="3754315" y="21066368"/>
            <a:ext cx="483577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lowok → stop / 1"/>
          <p:cNvCxnSpPr>
            <a:stCxn id="15" idx="3"/>
            <a:endCxn id="19" idx="1"/>
          </p:cNvCxnSpPr>
          <p:nvPr/>
        </p:nvCxnSpPr>
        <p:spPr>
          <a:xfrm>
            <a:off x="9249507" y="19747522"/>
            <a:ext cx="1055077" cy="263769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lowok → accept / 1"/>
          <p:cNvCxnSpPr>
            <a:stCxn id="15" idx="2"/>
            <a:endCxn id="16" idx="0"/>
          </p:cNvCxnSpPr>
          <p:nvPr/>
        </p:nvCxnSpPr>
        <p:spPr>
          <a:xfrm>
            <a:off x="6743699" y="20187137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ow → lowok / 1"/>
          <p:cNvCxnSpPr>
            <a:stCxn id="14" idx="2"/>
            <a:endCxn id="15" idx="0"/>
          </p:cNvCxnSpPr>
          <p:nvPr/>
        </p:nvCxnSpPr>
        <p:spPr>
          <a:xfrm>
            <a:off x="6743699" y="18956214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peakok → stop / 3"/>
          <p:cNvCxnSpPr>
            <a:endCxn id="19" idx="1"/>
          </p:cNvCxnSpPr>
          <p:nvPr/>
        </p:nvCxnSpPr>
        <p:spPr>
          <a:xfrm flipV="1">
            <a:off x="9864969" y="20011291"/>
            <a:ext cx="439615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peakok → stop / 2"/>
          <p:cNvCxnSpPr/>
          <p:nvPr/>
        </p:nvCxnSpPr>
        <p:spPr>
          <a:xfrm>
            <a:off x="9864969" y="17109830"/>
            <a:ext cx="0" cy="2901462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peakok → stop / 1"/>
          <p:cNvCxnSpPr>
            <a:stCxn id="13" idx="3"/>
          </p:cNvCxnSpPr>
          <p:nvPr/>
        </p:nvCxnSpPr>
        <p:spPr>
          <a:xfrm>
            <a:off x="9249507" y="17109830"/>
            <a:ext cx="615462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peakok → low / 1"/>
          <p:cNvCxnSpPr>
            <a:stCxn id="13" idx="2"/>
            <a:endCxn id="14" idx="0"/>
          </p:cNvCxnSpPr>
          <p:nvPr/>
        </p:nvCxnSpPr>
        <p:spPr>
          <a:xfrm>
            <a:off x="6743699" y="17549445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try → peakok / 1"/>
          <p:cNvCxnSpPr>
            <a:stCxn id="12" idx="2"/>
            <a:endCxn id="13" idx="0"/>
          </p:cNvCxnSpPr>
          <p:nvPr/>
        </p:nvCxnSpPr>
        <p:spPr>
          <a:xfrm>
            <a:off x="6743699" y="16318522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half → proposal / 3"/>
          <p:cNvCxnSpPr>
            <a:endCxn id="10" idx="3"/>
          </p:cNvCxnSpPr>
          <p:nvPr/>
        </p:nvCxnSpPr>
        <p:spPr>
          <a:xfrm flipH="1" flipV="1">
            <a:off x="9249507" y="13065368"/>
            <a:ext cx="527539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half → proposal / 2"/>
          <p:cNvCxnSpPr/>
          <p:nvPr/>
        </p:nvCxnSpPr>
        <p:spPr>
          <a:xfrm>
            <a:off x="9777046" y="13021407"/>
            <a:ext cx="0" cy="43962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half → proposal / 1"/>
          <p:cNvCxnSpPr>
            <a:stCxn id="18" idx="1"/>
          </p:cNvCxnSpPr>
          <p:nvPr/>
        </p:nvCxnSpPr>
        <p:spPr>
          <a:xfrm flipH="1">
            <a:off x="9777046" y="13021407"/>
            <a:ext cx="527538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try → half / 3"/>
          <p:cNvCxnSpPr>
            <a:endCxn id="18" idx="3"/>
          </p:cNvCxnSpPr>
          <p:nvPr/>
        </p:nvCxnSpPr>
        <p:spPr>
          <a:xfrm flipH="1">
            <a:off x="13206045" y="13021407"/>
            <a:ext cx="219808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try → half / 2"/>
          <p:cNvCxnSpPr/>
          <p:nvPr/>
        </p:nvCxnSpPr>
        <p:spPr>
          <a:xfrm flipV="1">
            <a:off x="13425853" y="13021407"/>
            <a:ext cx="0" cy="2813539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try → half / 1"/>
          <p:cNvCxnSpPr>
            <a:stCxn id="12" idx="3"/>
          </p:cNvCxnSpPr>
          <p:nvPr/>
        </p:nvCxnSpPr>
        <p:spPr>
          <a:xfrm>
            <a:off x="9249507" y="15834945"/>
            <a:ext cx="4176346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eak → retry / 1"/>
          <p:cNvCxnSpPr>
            <a:stCxn id="11" idx="2"/>
            <a:endCxn id="12" idx="0"/>
          </p:cNvCxnSpPr>
          <p:nvPr/>
        </p:nvCxnSpPr>
        <p:spPr>
          <a:xfrm>
            <a:off x="6743699" y="14999676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roposal → peak / 1"/>
          <p:cNvCxnSpPr>
            <a:stCxn id="10" idx="2"/>
            <a:endCxn id="11" idx="0"/>
          </p:cNvCxnSpPr>
          <p:nvPr/>
        </p:nvCxnSpPr>
        <p:spPr>
          <a:xfrm>
            <a:off x="6743699" y="13592906"/>
            <a:ext cx="0" cy="35169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ep → proposal / 1"/>
          <p:cNvCxnSpPr>
            <a:stCxn id="9" idx="2"/>
            <a:endCxn id="10" idx="0"/>
          </p:cNvCxnSpPr>
          <p:nvPr/>
        </p:nvCxnSpPr>
        <p:spPr>
          <a:xfrm>
            <a:off x="6743699" y="12186137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inactive → output / 3"/>
          <p:cNvCxnSpPr>
            <a:endCxn id="17" idx="1"/>
          </p:cNvCxnSpPr>
          <p:nvPr/>
        </p:nvCxnSpPr>
        <p:spPr>
          <a:xfrm flipV="1">
            <a:off x="633046" y="22605022"/>
            <a:ext cx="3604846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inactive → output / 2"/>
          <p:cNvCxnSpPr/>
          <p:nvPr/>
        </p:nvCxnSpPr>
        <p:spPr>
          <a:xfrm>
            <a:off x="633046" y="10339753"/>
            <a:ext cx="0" cy="1226527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inactive → output / 1"/>
          <p:cNvCxnSpPr>
            <a:stCxn id="21" idx="1"/>
          </p:cNvCxnSpPr>
          <p:nvPr/>
        </p:nvCxnSpPr>
        <p:spPr>
          <a:xfrm flipH="1">
            <a:off x="633046" y="10339753"/>
            <a:ext cx="263769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on → inactive / 1"/>
          <p:cNvCxnSpPr>
            <a:stCxn id="8" idx="1"/>
            <a:endCxn id="21" idx="3"/>
          </p:cNvCxnSpPr>
          <p:nvPr/>
        </p:nvCxnSpPr>
        <p:spPr>
          <a:xfrm flipH="1">
            <a:off x="3534507" y="10295791"/>
            <a:ext cx="703385" cy="43962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on → step / 1"/>
          <p:cNvCxnSpPr>
            <a:stCxn id="8" idx="2"/>
            <a:endCxn id="9" idx="0"/>
          </p:cNvCxnSpPr>
          <p:nvPr/>
        </p:nvCxnSpPr>
        <p:spPr>
          <a:xfrm>
            <a:off x="6743699" y="10779368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ctive → on / 1"/>
          <p:cNvCxnSpPr>
            <a:stCxn id="7" idx="2"/>
            <a:endCxn id="8" idx="0"/>
          </p:cNvCxnSpPr>
          <p:nvPr/>
        </p:nvCxnSpPr>
        <p:spPr>
          <a:xfrm>
            <a:off x="6743699" y="9416560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unout → output / 3"/>
          <p:cNvCxnSpPr>
            <a:endCxn id="17" idx="1"/>
          </p:cNvCxnSpPr>
          <p:nvPr/>
        </p:nvCxnSpPr>
        <p:spPr>
          <a:xfrm flipV="1">
            <a:off x="633046" y="22605022"/>
            <a:ext cx="3604846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unout → output / 2"/>
          <p:cNvCxnSpPr/>
          <p:nvPr/>
        </p:nvCxnSpPr>
        <p:spPr>
          <a:xfrm>
            <a:off x="633046" y="7570176"/>
            <a:ext cx="0" cy="15034847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unout → output / 1"/>
          <p:cNvCxnSpPr>
            <a:stCxn id="20" idx="1"/>
          </p:cNvCxnSpPr>
          <p:nvPr/>
        </p:nvCxnSpPr>
        <p:spPr>
          <a:xfrm flipH="1">
            <a:off x="633046" y="7570176"/>
            <a:ext cx="263769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mit → runout / 1"/>
          <p:cNvCxnSpPr>
            <a:stCxn id="6" idx="1"/>
            <a:endCxn id="20" idx="3"/>
          </p:cNvCxnSpPr>
          <p:nvPr/>
        </p:nvCxnSpPr>
        <p:spPr>
          <a:xfrm flipH="1">
            <a:off x="3534507" y="7570176"/>
            <a:ext cx="703385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mit → active / 1"/>
          <p:cNvCxnSpPr>
            <a:stCxn id="6" idx="2"/>
            <a:endCxn id="7" idx="0"/>
          </p:cNvCxnSpPr>
          <p:nvPr/>
        </p:nvCxnSpPr>
        <p:spPr>
          <a:xfrm>
            <a:off x="6743699" y="8009791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ok0 → stop / 3"/>
          <p:cNvCxnSpPr>
            <a:endCxn id="19" idx="3"/>
          </p:cNvCxnSpPr>
          <p:nvPr/>
        </p:nvCxnSpPr>
        <p:spPr>
          <a:xfrm flipH="1" flipV="1">
            <a:off x="13206045" y="20011291"/>
            <a:ext cx="527539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k0 → stop / 2"/>
          <p:cNvCxnSpPr/>
          <p:nvPr/>
        </p:nvCxnSpPr>
        <p:spPr>
          <a:xfrm>
            <a:off x="13733584" y="6295292"/>
            <a:ext cx="0" cy="1371600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ok0 → stop / 1"/>
          <p:cNvCxnSpPr>
            <a:stCxn id="5" idx="3"/>
          </p:cNvCxnSpPr>
          <p:nvPr/>
        </p:nvCxnSpPr>
        <p:spPr>
          <a:xfrm>
            <a:off x="9249507" y="6295291"/>
            <a:ext cx="4484077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ok0 → limit / 1"/>
          <p:cNvCxnSpPr>
            <a:stCxn id="5" idx="2"/>
            <a:endCxn id="6" idx="0"/>
          </p:cNvCxnSpPr>
          <p:nvPr/>
        </p:nvCxnSpPr>
        <p:spPr>
          <a:xfrm>
            <a:off x="6743699" y="6734906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initial → ok0 / 1"/>
          <p:cNvCxnSpPr>
            <a:stCxn id="4" idx="2"/>
            <a:endCxn id="5" idx="0"/>
          </p:cNvCxnSpPr>
          <p:nvPr/>
        </p:nvCxnSpPr>
        <p:spPr>
          <a:xfrm>
            <a:off x="6743699" y="5503983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input → initial / 1"/>
          <p:cNvCxnSpPr>
            <a:stCxn id="3" idx="2"/>
            <a:endCxn id="4" idx="0"/>
          </p:cNvCxnSpPr>
          <p:nvPr/>
        </p:nvCxnSpPr>
        <p:spPr>
          <a:xfrm>
            <a:off x="6743699" y="4053252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art → input / 1"/>
          <p:cNvCxnSpPr>
            <a:stCxn id="2" idx="2"/>
            <a:endCxn id="3" idx="0"/>
          </p:cNvCxnSpPr>
          <p:nvPr/>
        </p:nvCxnSpPr>
        <p:spPr>
          <a:xfrm>
            <a:off x="6743699" y="2602522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tart"/>
          <p:cNvSpPr/>
          <p:nvPr/>
        </p:nvSpPr>
        <p:spPr>
          <a:xfrm>
            <a:off x="4237892" y="1899138"/>
            <a:ext cx="5011615" cy="703384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Start: specify the specimen and total loads Qmax, Qmin</a:t>
            </a:r>
          </a:p>
        </p:txBody>
      </p:sp>
      <p:sp>
        <p:nvSpPr>
          <p:cNvPr id="3" name="input"/>
          <p:cNvSpPr/>
          <p:nvPr/>
        </p:nvSpPr>
        <p:spPr>
          <a:xfrm>
            <a:off x="4237892" y="2998176"/>
            <a:ext cx="5011615" cy="105507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Locate actual crack–reinforcement intersections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Initialize N=0, local counts Ni=0 and slip/failure history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parameters / prepare_parameters / fatigue_calculate</a:t>
            </a:r>
          </a:p>
        </p:txBody>
      </p:sp>
      <p:sp>
        <p:nvSpPr>
          <p:cNvPr id="4" name="initial"/>
          <p:cNvSpPr/>
          <p:nvPr/>
        </p:nvSpPr>
        <p:spPr>
          <a:xfrm>
            <a:off x="4237892" y="4448907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Solve initial peak and valley shear equilibrium in order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Vc(q)+Vs(q)+Vf(q)=Qmax/2 or Qmin/2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state → trial; internal calculation on page 2</a:t>
            </a:r>
          </a:p>
        </p:txBody>
      </p:sp>
      <p:sp>
        <p:nvSpPr>
          <p:cNvPr id="5" name="ok0"/>
          <p:cNvSpPr/>
          <p:nvPr/>
        </p:nvSpPr>
        <p:spPr>
          <a:xfrm>
            <a:off x="4237892" y="5855676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Initial peak and valley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solutions successful?</a:t>
            </a:r>
          </a:p>
        </p:txBody>
      </p:sp>
      <p:sp>
        <p:nvSpPr>
          <p:cNvPr id="6" name="limit"/>
          <p:cNvSpPr/>
          <p:nvPr/>
        </p:nvSpPr>
        <p:spPr>
          <a:xfrm>
            <a:off x="4237892" y="7130561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 &lt; Nmax?</a:t>
            </a:r>
          </a:p>
        </p:txBody>
      </p:sp>
      <p:sp>
        <p:nvSpPr>
          <p:cNvPr id="7" name="active"/>
          <p:cNvSpPr/>
          <p:nvPr/>
        </p:nvSpPr>
        <p:spPr>
          <a:xfrm>
            <a:off x="4237892" y="8361484"/>
            <a:ext cx="5011615" cy="105507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Identify active nodes from peak–valley slip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(smax&gt;0.75δm or previously activated) AND slip range&gt;tol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active_nodes | F: threshold; history/range gates: code rules</a:t>
            </a:r>
          </a:p>
        </p:txBody>
      </p:sp>
      <p:sp>
        <p:nvSpPr>
          <p:cNvPr id="8" name="on"/>
          <p:cNvSpPr/>
          <p:nvPr/>
        </p:nvSpPr>
        <p:spPr>
          <a:xfrm>
            <a:off x="4237892" y="9812215"/>
            <a:ext cx="5011615" cy="967153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Active nodes, or enabled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steel/concrete S–N rules?</a:t>
            </a:r>
          </a:p>
        </p:txBody>
      </p:sp>
      <p:sp>
        <p:nvSpPr>
          <p:cNvPr id="9" name="step"/>
          <p:cNvSpPr/>
          <p:nvPr/>
        </p:nvSpPr>
        <p:spPr>
          <a:xfrm>
            <a:off x="4237892" y="11131061"/>
            <a:ext cx="5011615" cy="105507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Choose ΔN without passing the next snapshot or Nmax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Propose Ni,new=Ni,old+ΔN at active nodes only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Keep the accepted history unchanged until acceptance</a:t>
            </a:r>
          </a:p>
        </p:txBody>
      </p:sp>
      <p:sp>
        <p:nvSpPr>
          <p:cNvPr id="10" name="proposal"/>
          <p:cNvSpPr/>
          <p:nvPr/>
        </p:nvSpPr>
        <p:spPr>
          <a:xfrm>
            <a:off x="4237892" y="12537830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Update nodal peak bond stress [F, Eq. 2]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τm,i=max{0,[1−kf log₁₀max(Ni,1)]τm,0}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kf=0.1965 (rod) or 0.1985 (strip) | bond_strength</a:t>
            </a:r>
          </a:p>
        </p:txBody>
      </p:sp>
      <p:sp>
        <p:nvSpPr>
          <p:cNvPr id="11" name="peak"/>
          <p:cNvSpPr/>
          <p:nvPr/>
        </p:nvSpPr>
        <p:spPr>
          <a:xfrm>
            <a:off x="4237892" y="13944600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Use the updated bond law to solve peak equilibrium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Crack jump q → slip profiles → bar forces → shear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state → trial → anchorage / bond (page 2)</a:t>
            </a:r>
          </a:p>
        </p:txBody>
      </p:sp>
      <p:sp>
        <p:nvSpPr>
          <p:cNvPr id="12" name="retry"/>
          <p:cNvSpPr/>
          <p:nvPr/>
        </p:nvSpPr>
        <p:spPr>
          <a:xfrm>
            <a:off x="4237892" y="15351369"/>
            <a:ext cx="5011615" cy="967153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Peak failed or q grew too fast,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AND ΔN &gt; 1?</a:t>
            </a:r>
          </a:p>
        </p:txBody>
      </p:sp>
      <p:sp>
        <p:nvSpPr>
          <p:cNvPr id="13" name="peakok"/>
          <p:cNvSpPr/>
          <p:nvPr/>
        </p:nvSpPr>
        <p:spPr>
          <a:xfrm>
            <a:off x="4237892" y="16670215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Candidate peak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equilibrium successful?</a:t>
            </a:r>
          </a:p>
        </p:txBody>
      </p:sp>
      <p:sp>
        <p:nvSpPr>
          <p:cNvPr id="14" name="low"/>
          <p:cNvSpPr/>
          <p:nvPr/>
        </p:nvSpPr>
        <p:spPr>
          <a:xfrm>
            <a:off x="4237892" y="17901138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Use peak maximum-slip history to solve the valley state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FRP bond stress = historical secant stiffness × current slip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state → trial; valley shear target Qmin/2</a:t>
            </a:r>
          </a:p>
        </p:txBody>
      </p:sp>
      <p:sp>
        <p:nvSpPr>
          <p:cNvPr id="15" name="lowok"/>
          <p:cNvSpPr/>
          <p:nvPr/>
        </p:nvSpPr>
        <p:spPr>
          <a:xfrm>
            <a:off x="4237892" y="19307907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Candidate valley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equilibrium successful?</a:t>
            </a:r>
          </a:p>
        </p:txBody>
      </p:sp>
      <p:sp>
        <p:nvSpPr>
          <p:cNvPr id="16" name="accept"/>
          <p:cNvSpPr/>
          <p:nvPr/>
        </p:nvSpPr>
        <p:spPr>
          <a:xfrm>
            <a:off x="4237892" y="20538830"/>
            <a:ext cx="5011615" cy="105507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Accept the block: N←N+ΔN; commit candidate history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Save q, w, v, Vc, Vs, Vf and local slip/strain/failure fields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fatigue_calculate / save_snapshot</a:t>
            </a:r>
          </a:p>
        </p:txBody>
      </p:sp>
      <p:sp>
        <p:nvSpPr>
          <p:cNvPr id="17" name="output"/>
          <p:cNvSpPr/>
          <p:nvPr/>
        </p:nvSpPr>
        <p:spPr>
          <a:xfrm>
            <a:off x="4237892" y="22121446"/>
            <a:ext cx="5011615" cy="967153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Stop and export the last accepted response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export_results; reaching Nmax is a runout, not fatigue life</a:t>
            </a:r>
          </a:p>
        </p:txBody>
      </p:sp>
      <p:sp>
        <p:nvSpPr>
          <p:cNvPr id="18" name="half"/>
          <p:cNvSpPr/>
          <p:nvPr/>
        </p:nvSpPr>
        <p:spPr>
          <a:xfrm>
            <a:off x="10304584" y="12405946"/>
            <a:ext cx="2901461" cy="1230923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Reduce the cycle block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ΔN←max[1,floor(ΔN/2)]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Retry from the same accepted history</a:t>
            </a:r>
          </a:p>
        </p:txBody>
      </p:sp>
      <p:sp>
        <p:nvSpPr>
          <p:cNvPr id="19" name="stop"/>
          <p:cNvSpPr/>
          <p:nvPr/>
        </p:nvSpPr>
        <p:spPr>
          <a:xfrm>
            <a:off x="10304584" y="19307907"/>
            <a:ext cx="2901461" cy="1406769"/>
          </a:xfrm>
          <a:prstGeom prst="roundRect">
            <a:avLst/>
          </a:prstGeom>
          <a:solidFill>
            <a:srgbClr val="FFE2DE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Record the stopping reason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Numerical failure / user limit /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no root on the selected branch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Do not label every stop as debonding</a:t>
            </a:r>
          </a:p>
        </p:txBody>
      </p:sp>
      <p:sp>
        <p:nvSpPr>
          <p:cNvPr id="20" name="runout"/>
          <p:cNvSpPr/>
          <p:nvPr/>
        </p:nvSpPr>
        <p:spPr>
          <a:xfrm>
            <a:off x="896815" y="7130561"/>
            <a:ext cx="2637692" cy="879230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Cycle limit reached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Report runout</a:t>
            </a:r>
          </a:p>
        </p:txBody>
      </p:sp>
      <p:sp>
        <p:nvSpPr>
          <p:cNvPr id="21" name="inactive"/>
          <p:cNvSpPr/>
          <p:nvPr/>
        </p:nvSpPr>
        <p:spPr>
          <a:xfrm>
            <a:off x="896815" y="9812215"/>
            <a:ext cx="2637692" cy="1055076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No active degradation mechanism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Record snapshots up to Nmax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Report runout without degradation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2730" y="6625003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Yes: save N=0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0576" y="5987561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2730" y="7877907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5230" y="726244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22730" y="10647484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5230" y="10010042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16711" y="15527215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22730" y="16186638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22730" y="17417561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6269" y="16802100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22730" y="20055253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6076" y="1957167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27738" y="16186638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Next block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1415561"/>
            <a:ext cx="13716000" cy="395653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938">
                <a:solidFill>
                  <a:srgbClr val="243746"/>
                </a:solidFill>
                <a:latin typeface="Arial"/>
              </a:defRPr>
            </a:pPr>
            <a:r>
              <a:t>Formula-Mapped Shear Fatigue Main Loop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5123" y="23528215"/>
            <a:ext cx="13540153" cy="5715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176">
                <a:solidFill>
                  <a:srgbClr val="243746"/>
                </a:solidFill>
                <a:latin typeface="Arial"/>
              </a:defRPr>
            </a:pPr>
            <a:r>
              <a:t>F: 2019 flexural-fatigue modeling paper; S: 2019 single-crack shear paper; E: 2024 ECC-FRP paper. Equation numbers need a paper prefix.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6" name="more → diag / 1"/>
          <p:cNvCxnSpPr>
            <a:stCxn id="15" idx="2"/>
            <a:endCxn id="16" idx="0"/>
          </p:cNvCxnSpPr>
          <p:nvPr/>
        </p:nvCxnSpPr>
        <p:spPr>
          <a:xfrm>
            <a:off x="11755314" y="21066368"/>
            <a:ext cx="0" cy="439616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more → start / 3"/>
          <p:cNvCxnSpPr>
            <a:endCxn id="2" idx="3"/>
          </p:cNvCxnSpPr>
          <p:nvPr/>
        </p:nvCxnSpPr>
        <p:spPr>
          <a:xfrm flipH="1">
            <a:off x="9249507" y="2620107"/>
            <a:ext cx="4484077" cy="4396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more → start / 2"/>
          <p:cNvCxnSpPr/>
          <p:nvPr/>
        </p:nvCxnSpPr>
        <p:spPr>
          <a:xfrm flipV="1">
            <a:off x="13733584" y="2620107"/>
            <a:ext cx="0" cy="17936308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more → start / 1"/>
          <p:cNvCxnSpPr>
            <a:stCxn id="15" idx="3"/>
          </p:cNvCxnSpPr>
          <p:nvPr/>
        </p:nvCxnSpPr>
        <p:spPr>
          <a:xfrm flipV="1">
            <a:off x="13206045" y="20556415"/>
            <a:ext cx="527539" cy="4395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ok → more / 1"/>
          <p:cNvCxnSpPr>
            <a:stCxn id="13" idx="3"/>
            <a:endCxn id="15" idx="1"/>
          </p:cNvCxnSpPr>
          <p:nvPr/>
        </p:nvCxnSpPr>
        <p:spPr>
          <a:xfrm>
            <a:off x="9249507" y="20560810"/>
            <a:ext cx="1055077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k → return / 1"/>
          <p:cNvCxnSpPr>
            <a:stCxn id="13" idx="2"/>
            <a:endCxn id="14" idx="0"/>
          </p:cNvCxnSpPr>
          <p:nvPr/>
        </p:nvCxnSpPr>
        <p:spPr>
          <a:xfrm>
            <a:off x="6743699" y="21066368"/>
            <a:ext cx="0" cy="439616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um → ok / 1"/>
          <p:cNvCxnSpPr>
            <a:stCxn id="12" idx="2"/>
            <a:endCxn id="13" idx="0"/>
          </p:cNvCxnSpPr>
          <p:nvPr/>
        </p:nvCxnSpPr>
        <p:spPr>
          <a:xfrm>
            <a:off x="6743699" y="1965959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ail → sum / 1"/>
          <p:cNvCxnSpPr>
            <a:stCxn id="11" idx="2"/>
            <a:endCxn id="12" idx="0"/>
          </p:cNvCxnSpPr>
          <p:nvPr/>
        </p:nvCxnSpPr>
        <p:spPr>
          <a:xfrm>
            <a:off x="6743699" y="1794509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mpat → fail / 1"/>
          <p:cNvCxnSpPr>
            <a:stCxn id="10" idx="2"/>
            <a:endCxn id="11" idx="0"/>
          </p:cNvCxnSpPr>
          <p:nvPr/>
        </p:nvCxnSpPr>
        <p:spPr>
          <a:xfrm>
            <a:off x="6743699" y="16450407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nchor → compat / 1"/>
          <p:cNvCxnSpPr>
            <a:stCxn id="9" idx="2"/>
            <a:endCxn id="10" idx="0"/>
          </p:cNvCxnSpPr>
          <p:nvPr/>
        </p:nvCxnSpPr>
        <p:spPr>
          <a:xfrm>
            <a:off x="6743699" y="14735907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ond → anchor / 1"/>
          <p:cNvCxnSpPr>
            <a:stCxn id="8" idx="2"/>
            <a:endCxn id="9" idx="0"/>
          </p:cNvCxnSpPr>
          <p:nvPr/>
        </p:nvCxnSpPr>
        <p:spPr>
          <a:xfrm>
            <a:off x="6743699" y="13021407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m → bond / 1"/>
          <p:cNvCxnSpPr>
            <a:stCxn id="7" idx="2"/>
            <a:endCxn id="8" idx="0"/>
          </p:cNvCxnSpPr>
          <p:nvPr/>
        </p:nvCxnSpPr>
        <p:spPr>
          <a:xfrm>
            <a:off x="6743699" y="11043138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bar → tm / 1"/>
          <p:cNvCxnSpPr>
            <a:stCxn id="6" idx="2"/>
            <a:endCxn id="7" idx="0"/>
          </p:cNvCxnSpPr>
          <p:nvPr/>
        </p:nvCxnSpPr>
        <p:spPr>
          <a:xfrm>
            <a:off x="6743699" y="963636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s → bar / 1"/>
          <p:cNvCxnSpPr>
            <a:stCxn id="5" idx="2"/>
            <a:endCxn id="6" idx="0"/>
          </p:cNvCxnSpPr>
          <p:nvPr/>
        </p:nvCxnSpPr>
        <p:spPr>
          <a:xfrm>
            <a:off x="6743699" y="8009792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c → vs / 1"/>
          <p:cNvCxnSpPr>
            <a:stCxn id="4" idx="2"/>
            <a:endCxn id="5" idx="0"/>
          </p:cNvCxnSpPr>
          <p:nvPr/>
        </p:nvCxnSpPr>
        <p:spPr>
          <a:xfrm>
            <a:off x="6743699" y="6383215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rack → vc / 1"/>
          <p:cNvCxnSpPr>
            <a:stCxn id="3" idx="2"/>
            <a:endCxn id="4" idx="0"/>
          </p:cNvCxnSpPr>
          <p:nvPr/>
        </p:nvCxnSpPr>
        <p:spPr>
          <a:xfrm>
            <a:off x="6743699" y="4756637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art → crack / 1"/>
          <p:cNvCxnSpPr>
            <a:stCxn id="2" idx="2"/>
            <a:endCxn id="3" idx="0"/>
          </p:cNvCxnSpPr>
          <p:nvPr/>
        </p:nvCxnSpPr>
        <p:spPr>
          <a:xfrm>
            <a:off x="6743699" y="308609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tart"/>
          <p:cNvSpPr/>
          <p:nvPr/>
        </p:nvSpPr>
        <p:spPr>
          <a:xfrm>
            <a:off x="4237892" y="2162907"/>
            <a:ext cx="5011615" cy="923192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Set the peak/valley target and accepted history; trial q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state: ascending-bracket scan and bisection; no trial commit</a:t>
            </a:r>
          </a:p>
        </p:txBody>
      </p:sp>
      <p:sp>
        <p:nvSpPr>
          <p:cNvPr id="3" name="crack"/>
          <p:cNvSpPr/>
          <p:nvPr/>
        </p:nvSpPr>
        <p:spPr>
          <a:xfrm>
            <a:off x="4237892" y="3481753"/>
            <a:ext cx="5011615" cy="1274884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1. Crack kinematics (prescribed code relations)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g(y)=(1−y/hc)^m; K=cosθ+r sinθ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w₀=q/K; v₀=rw₀; w(y)=w₀g(y); v(y)=v₀g(y)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crack_deformation | S, Eq. 7 (PST/Green) not implemented</a:t>
            </a:r>
          </a:p>
        </p:txBody>
      </p:sp>
      <p:sp>
        <p:nvSpPr>
          <p:cNvPr id="4" name="vc"/>
          <p:cNvSpPr/>
          <p:nvPr/>
        </p:nvSpPr>
        <p:spPr>
          <a:xfrm>
            <a:off x="4237892" y="5152292"/>
            <a:ext cx="5011615" cy="1230923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2. Concrete shear (empirical code closure)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Vc=Vc0(1−exp(−q/qr))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×[ρc+(1−ρc)exp(−w₀/wc)](1−Dc)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trial | empirical parameters require calibration</a:t>
            </a:r>
          </a:p>
        </p:txBody>
      </p:sp>
      <p:sp>
        <p:nvSpPr>
          <p:cNvPr id="5" name="vs"/>
          <p:cNvSpPr/>
          <p:nvPr/>
        </p:nvSpPr>
        <p:spPr>
          <a:xfrm>
            <a:off x="4237892" y="6778869"/>
            <a:ext cx="5011615" cy="1230923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3. Contribution of stirrups intersecting the crack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εs,j=qg(yj)/ls; σs,j=min(Esεs,j,fy); Vs=ΣAs,jσs,j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ls is assumed; stirrup stress is zero when damage reaches 1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trial | stress cap/sum: R22, Eqs. 9a, 9c</a:t>
            </a:r>
          </a:p>
        </p:txBody>
      </p:sp>
      <p:sp>
        <p:nvSpPr>
          <p:cNvPr id="6" name="bar"/>
          <p:cNvSpPr/>
          <p:nvPr/>
        </p:nvSpPr>
        <p:spPr>
          <a:xfrm>
            <a:off x="4237892" y="8405446"/>
            <a:ext cx="5011615" cy="1230923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4. Project crack motion onto each intact FRP bar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δj=qg(yj)[sin(θ+αj)−r cos(θ+αj)]/K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For vertical bars (αj=90°): δj=qg(yj)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trial | not a direct substitution of S, Eq. 8</a:t>
            </a:r>
          </a:p>
        </p:txBody>
      </p:sp>
      <p:sp>
        <p:nvSpPr>
          <p:cNvPr id="7" name="tm"/>
          <p:cNvSpPr/>
          <p:nvPr/>
        </p:nvSpPr>
        <p:spPr>
          <a:xfrm>
            <a:off x="4237892" y="10032023"/>
            <a:ext cx="5011615" cy="1011115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5. Update τm,i using local cycle counts [F, Eq. 2]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τm,i=max{0,τm,0[1−kf log₁₀max(Ni,1)]}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bond_strength; Ni counts local cycles after activation</a:t>
            </a:r>
          </a:p>
        </p:txBody>
      </p:sp>
      <p:sp>
        <p:nvSpPr>
          <p:cNvPr id="8" name="bond"/>
          <p:cNvSpPr/>
          <p:nvPr/>
        </p:nvSpPr>
        <p:spPr>
          <a:xfrm>
            <a:off x="4237892" y="11438792"/>
            <a:ext cx="5011615" cy="1582615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6. Trilinear bond envelope [F, Eq. 1]; tr=min(τr,τm,i)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τenv=τm,i·s/δm                         s≤δm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τenv=tr+(τm,i−tr)(δu−s)/(δu−δm)    δm&lt;s≤δu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τenv=tr                               s&gt;δu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bond | residual clipping and secant history: code additions</a:t>
            </a:r>
          </a:p>
        </p:txBody>
      </p:sp>
      <p:sp>
        <p:nvSpPr>
          <p:cNvPr id="9" name="anchor"/>
          <p:cNvSpPr/>
          <p:nvPr/>
        </p:nvSpPr>
        <p:spPr>
          <a:xfrm>
            <a:off x="4237892" y="13417061"/>
            <a:ext cx="5011615" cy="131884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7. Discretize both anchors and integrate bond stress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dT/dx=−pfτ; ds/dx=−T/(EfAf); free-end T=0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Ti(x)=pf∫[x,Li]τi(ξ)dξ | anchorage / anchor_mesh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F, Eq. 10; S, Eq. 10: adapted to local anchor coordinates</a:t>
            </a:r>
          </a:p>
        </p:txBody>
      </p:sp>
      <p:sp>
        <p:nvSpPr>
          <p:cNvPr id="10" name="compat"/>
          <p:cNvSpPr/>
          <p:nvPr/>
        </p:nvSpPr>
        <p:spPr>
          <a:xfrm>
            <a:off x="4237892" y="15131561"/>
            <a:ext cx="5011615" cy="131884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8. Enforce two-sided compatibility and strain continuity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s₁(0)+s₂(0)=δj [S, Eq. 9d]; εf1(0)=εf2(0) [S, Eq. 11]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The same EfAf on both sides gives T₁(0)=T₂(0)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Numerical iteration; not F, Eq. 9b or S, Eqs. 9a–c</a:t>
            </a:r>
          </a:p>
        </p:txBody>
      </p:sp>
      <p:sp>
        <p:nvSpPr>
          <p:cNvPr id="11" name="fail"/>
          <p:cNvSpPr/>
          <p:nvPr/>
        </p:nvSpPr>
        <p:spPr>
          <a:xfrm>
            <a:off x="4237892" y="16846061"/>
            <a:ext cx="5011615" cy="1099038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9. Check debonding, tensile and user cover limits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Remove failed-bar force; repeat steps 4–9 for other bars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trial: tensile cap Af·ffu; no FRP material-fatigue law yet</a:t>
            </a:r>
          </a:p>
        </p:txBody>
      </p:sp>
      <p:sp>
        <p:nvSpPr>
          <p:cNvPr id="12" name="sum"/>
          <p:cNvSpPr/>
          <p:nvPr/>
        </p:nvSpPr>
        <p:spPr>
          <a:xfrm>
            <a:off x="4237892" y="18340753"/>
            <a:ext cx="5011615" cy="131884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10. Sum FRP vertical forces and total shear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Vf=nfaces ΣTj sinαj; V=Vc+Vs+Vf=Q/2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Same force-decomposition idea as E, Eq. 1; Vf is NSM shear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The ECC-overlay split Vef,σ+Vef,τ is not used</a:t>
            </a:r>
          </a:p>
        </p:txBody>
      </p:sp>
      <p:sp>
        <p:nvSpPr>
          <p:cNvPr id="13" name="ok"/>
          <p:cNvSpPr/>
          <p:nvPr/>
        </p:nvSpPr>
        <p:spPr>
          <a:xfrm>
            <a:off x="4237892" y="20055253"/>
            <a:ext cx="5011615" cy="1011115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Valid local solution AND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|V(q)−Q/2|≤forceTolerance?</a:t>
            </a:r>
          </a:p>
        </p:txBody>
      </p:sp>
      <p:sp>
        <p:nvSpPr>
          <p:cNvPr id="14" name="return"/>
          <p:cNvSpPr/>
          <p:nvPr/>
        </p:nvSpPr>
        <p:spPr>
          <a:xfrm>
            <a:off x="4237892" y="21505984"/>
            <a:ext cx="5011615" cy="879230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Return the balanced peak/valley state and local fields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The controller decides whether to accept the cycle block</a:t>
            </a:r>
          </a:p>
        </p:txBody>
      </p:sp>
      <p:sp>
        <p:nvSpPr>
          <p:cNvPr id="15" name="more"/>
          <p:cNvSpPr/>
          <p:nvPr/>
        </p:nvSpPr>
        <p:spPr>
          <a:xfrm>
            <a:off x="10304584" y="20055253"/>
            <a:ext cx="2901461" cy="1011115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Further scan/bisection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search available?</a:t>
            </a:r>
          </a:p>
        </p:txBody>
      </p:sp>
      <p:sp>
        <p:nvSpPr>
          <p:cNvPr id="16" name="diag"/>
          <p:cNvSpPr/>
          <p:nvPr/>
        </p:nvSpPr>
        <p:spPr>
          <a:xfrm>
            <a:off x="10304584" y="21505984"/>
            <a:ext cx="2901461" cy="1230923"/>
          </a:xfrm>
          <a:prstGeom prst="roundRect">
            <a:avLst/>
          </a:prstGeom>
          <a:solidFill>
            <a:srgbClr val="FFE2DE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Return a classified diagnostic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No selected-branch root /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numerical failure / resolution limit</a:t>
            </a:r>
          </a:p>
          <a:p>
            <a:pPr algn="ctr">
              <a:spcAft>
                <a:spcPts val="100"/>
              </a:spcAft>
              <a:defRPr sz="1107">
                <a:solidFill>
                  <a:srgbClr val="243746"/>
                </a:solidFill>
                <a:latin typeface="Arial"/>
              </a:defRPr>
            </a:pPr>
            <a:r>
              <a:t>No automatic IC-debonding label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2730" y="2097844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6076" y="20253080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63046" y="10251830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Yes: adjust 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34346" y="2097844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635369"/>
            <a:ext cx="13716000" cy="395653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938">
                <a:solidFill>
                  <a:srgbClr val="243746"/>
                </a:solidFill>
                <a:latin typeface="Arial"/>
              </a:defRPr>
            </a:pPr>
            <a:r>
              <a:t>Formula-Mapped Shear Equilibrium Solver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123" y="23308407"/>
            <a:ext cx="13540153" cy="5715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176">
                <a:solidFill>
                  <a:srgbClr val="243746"/>
                </a:solidFill>
                <a:latin typeface="Arial"/>
              </a:defRPr>
            </a:pPr>
            <a:r>
              <a:t>F: DOI 10.1016/j.ijfatigue.2019.04.039; S: DOI suffix 0000953; E: CCENG-4395. Orange boxes include model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"/>
          <p:cNvSpPr/>
          <p:nvPr/>
        </p:nvSpPr>
        <p:spPr>
          <a:xfrm>
            <a:off x="2567353" y="4273061"/>
            <a:ext cx="9495692" cy="747346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How the supplied equations relate to the current shear code</a:t>
            </a:r>
          </a:p>
        </p:txBody>
      </p:sp>
      <p:sp>
        <p:nvSpPr>
          <p:cNvPr id="3" name="b"/>
          <p:cNvSpPr/>
          <p:nvPr/>
        </p:nvSpPr>
        <p:spPr>
          <a:xfrm>
            <a:off x="2567353" y="5591907"/>
            <a:ext cx="9495692" cy="131884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Adopted: F, Eq. (1), trilinear envelope; F, Eq. (2), local fatigue degradation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bond.m / bond_strength.m; the 0.75δm threshold is used in active_nodes.m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The code adds zero-count protection, nonnegative peaks and a residual-stress rule.</a:t>
            </a:r>
          </a:p>
        </p:txBody>
      </p:sp>
      <p:sp>
        <p:nvSpPr>
          <p:cNvPr id="4" name="c"/>
          <p:cNvSpPr/>
          <p:nvPr/>
        </p:nvSpPr>
        <p:spPr>
          <a:xfrm>
            <a:off x="2567353" y="7614138"/>
            <a:ext cx="9495692" cy="1494692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Adapted principle: bond-stress integration in F, Eq. (10), and S, Eq. (10)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Replace half-span coordinates with local coordinates on each anchor: Ti(x)=pf∫[x,Li]τi dξ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S, Eqs. (9d) and (11), motivate two-sided slip compatibility and intersection strain continuity.</a:t>
            </a:r>
          </a:p>
        </p:txBody>
      </p:sp>
      <p:sp>
        <p:nvSpPr>
          <p:cNvPr id="5" name="d"/>
          <p:cNvSpPr/>
          <p:nvPr/>
        </p:nvSpPr>
        <p:spPr>
          <a:xfrm>
            <a:off x="2567353" y="9812215"/>
            <a:ext cx="9495692" cy="1494692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Not directly implemented: F, Eq. (9b), analytical matrix; S, Eqs. (9a–c), analytical slip fields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anchorage.m assembles bar/bond stiffness and uses fixed-point iteration with a Newton fallback.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The numerical system is not the paper matrix merely because both are written as matrix equations.</a:t>
            </a:r>
          </a:p>
        </p:txBody>
      </p:sp>
      <p:sp>
        <p:nvSpPr>
          <p:cNvPr id="6" name="e"/>
          <p:cNvSpPr/>
          <p:nvPr/>
        </p:nvSpPr>
        <p:spPr>
          <a:xfrm>
            <a:off x="2567353" y="12010292"/>
            <a:ext cx="9495692" cy="1494692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Not included: Ps/Pd from F, Eq. (11), and half-span Ls/Ld relations from F, Eq. (13)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These belong to the longitudinal flexural IC-debonding model; its P is not this model’s total load Q.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The current code does not calculate critical loads or half-span damage-zone lengths using these equations.</a:t>
            </a:r>
          </a:p>
        </p:txBody>
      </p:sp>
      <p:sp>
        <p:nvSpPr>
          <p:cNvPr id="7" name="f"/>
          <p:cNvSpPr/>
          <p:nvPr/>
        </p:nvSpPr>
        <p:spPr>
          <a:xfrm>
            <a:off x="2567353" y="14208369"/>
            <a:ext cx="9495692" cy="1494692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Not included: longitudinally strengthened beam deflection from F, Eq. (14)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The eccentric longitudinal-reinforcement bending expression does not transfer directly to vertical NSM shear.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Here q is a vertical crack jump and w is crack opening; the paper’s deflection w is a different quantity.</a:t>
            </a:r>
          </a:p>
        </p:txBody>
      </p:sp>
      <p:sp>
        <p:nvSpPr>
          <p:cNvPr id="8" name="g"/>
          <p:cNvSpPr/>
          <p:nvPr/>
        </p:nvSpPr>
        <p:spPr>
          <a:xfrm>
            <a:off x="2567353" y="16406446"/>
            <a:ext cx="9495692" cy="1582615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Adopted equilibrium idea: E, Eq. (1), V=Vc+Vs+Vef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Here V=Vc+Vs+Vf, where Vf sums the actual NSM bar-force vertical components.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E, Eq. (2), Vef,σ+Vef,τ, concerns the continuous ECC overlay and is not implemented for these NSM bars.</a:t>
            </a:r>
          </a:p>
        </p:txBody>
      </p:sp>
      <p:sp>
        <p:nvSpPr>
          <p:cNvPr id="9" name="h"/>
          <p:cNvSpPr/>
          <p:nvPr/>
        </p:nvSpPr>
        <p:spPr>
          <a:xfrm>
            <a:off x="2567353" y="18780369"/>
            <a:ext cx="9495692" cy="1406769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This diagram describes the current calculation; the MATLAB source remains unchanged.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Implementing F, Eqs. (9b), (11), (13), or the complete S crack model requires separate modeling and validation.</a:t>
            </a:r>
          </a:p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Arial"/>
              </a:defRPr>
            </a:pPr>
            <a:r>
              <a:t>Equations not yet implemented are not presented as executed calculation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3638"/>
            <a:ext cx="13716000" cy="395653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938">
                <a:solidFill>
                  <a:srgbClr val="243746"/>
                </a:solidFill>
                <a:latin typeface="Arial"/>
              </a:defRPr>
            </a:pPr>
            <a:r>
              <a:t>Equation Scope and Current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123" y="21330138"/>
            <a:ext cx="13540153" cy="5715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176">
                <a:solidFill>
                  <a:srgbClr val="243746"/>
                </a:solidFill>
                <a:latin typeface="Arial"/>
              </a:defRPr>
            </a:pPr>
            <a:r>
              <a:t>R22: DOI suffix 0001251, intersecting reinforcement and shear-force decomposition. This update translates the diagrams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
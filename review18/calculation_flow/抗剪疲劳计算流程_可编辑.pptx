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2560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78" name="stop → output / 2"/>
          <p:cNvCxnSpPr>
            <a:endCxn id="18" idx="3"/>
          </p:cNvCxnSpPr>
          <p:nvPr/>
        </p:nvCxnSpPr>
        <p:spPr>
          <a:xfrm flipH="1">
            <a:off x="9249507" y="22824830"/>
            <a:ext cx="2505808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op → output / 1"/>
          <p:cNvCxnSpPr>
            <a:stCxn id="23" idx="2"/>
          </p:cNvCxnSpPr>
          <p:nvPr/>
        </p:nvCxnSpPr>
        <p:spPr>
          <a:xfrm>
            <a:off x="11755314" y="20802599"/>
            <a:ext cx="1" cy="202223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mmit → limit / 3"/>
          <p:cNvCxnSpPr>
            <a:endCxn id="7" idx="1"/>
          </p:cNvCxnSpPr>
          <p:nvPr/>
        </p:nvCxnSpPr>
        <p:spPr>
          <a:xfrm flipV="1">
            <a:off x="3754315" y="8405445"/>
            <a:ext cx="483577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mmit → limit / 2"/>
          <p:cNvCxnSpPr/>
          <p:nvPr/>
        </p:nvCxnSpPr>
        <p:spPr>
          <a:xfrm flipV="1">
            <a:off x="3754315" y="8405446"/>
            <a:ext cx="0" cy="12968654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mmit → limit / 1"/>
          <p:cNvCxnSpPr>
            <a:stCxn id="17" idx="1"/>
          </p:cNvCxnSpPr>
          <p:nvPr/>
        </p:nvCxnSpPr>
        <p:spPr>
          <a:xfrm flipH="1">
            <a:off x="3754315" y="21374099"/>
            <a:ext cx="483577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owok → stop / 1"/>
          <p:cNvCxnSpPr>
            <a:stCxn id="16" idx="3"/>
            <a:endCxn id="23" idx="1"/>
          </p:cNvCxnSpPr>
          <p:nvPr/>
        </p:nvCxnSpPr>
        <p:spPr>
          <a:xfrm>
            <a:off x="9249507" y="20099215"/>
            <a:ext cx="1055077" cy="4396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owok → commit / 1"/>
          <p:cNvCxnSpPr>
            <a:stCxn id="16" idx="2"/>
            <a:endCxn id="17" idx="0"/>
          </p:cNvCxnSpPr>
          <p:nvPr/>
        </p:nvCxnSpPr>
        <p:spPr>
          <a:xfrm>
            <a:off x="6743699" y="20538830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valley → lowok / 1"/>
          <p:cNvCxnSpPr>
            <a:stCxn id="15" idx="2"/>
            <a:endCxn id="16" idx="0"/>
          </p:cNvCxnSpPr>
          <p:nvPr/>
        </p:nvCxnSpPr>
        <p:spPr>
          <a:xfrm>
            <a:off x="6743699" y="19307906"/>
            <a:ext cx="0" cy="35169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peakok → stop / 3"/>
          <p:cNvCxnSpPr>
            <a:endCxn id="23" idx="3"/>
          </p:cNvCxnSpPr>
          <p:nvPr/>
        </p:nvCxnSpPr>
        <p:spPr>
          <a:xfrm flipH="1">
            <a:off x="13206045" y="20143176"/>
            <a:ext cx="263770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peakok → stop / 2"/>
          <p:cNvCxnSpPr/>
          <p:nvPr/>
        </p:nvCxnSpPr>
        <p:spPr>
          <a:xfrm>
            <a:off x="13469815" y="17549446"/>
            <a:ext cx="0" cy="259373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peakok → stop / 1"/>
          <p:cNvCxnSpPr>
            <a:stCxn id="14" idx="3"/>
          </p:cNvCxnSpPr>
          <p:nvPr/>
        </p:nvCxnSpPr>
        <p:spPr>
          <a:xfrm>
            <a:off x="9249507" y="17549445"/>
            <a:ext cx="4220308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peakok → valley / 1"/>
          <p:cNvCxnSpPr>
            <a:stCxn id="14" idx="2"/>
            <a:endCxn id="15" idx="0"/>
          </p:cNvCxnSpPr>
          <p:nvPr/>
        </p:nvCxnSpPr>
        <p:spPr>
          <a:xfrm>
            <a:off x="6743699" y="17989060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retry → peakok / 1"/>
          <p:cNvCxnSpPr>
            <a:stCxn id="13" idx="2"/>
            <a:endCxn id="14" idx="0"/>
          </p:cNvCxnSpPr>
          <p:nvPr/>
        </p:nvCxnSpPr>
        <p:spPr>
          <a:xfrm>
            <a:off x="6743699" y="16758137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half → proposal / 3"/>
          <p:cNvCxnSpPr>
            <a:endCxn id="11" idx="3"/>
          </p:cNvCxnSpPr>
          <p:nvPr/>
        </p:nvCxnSpPr>
        <p:spPr>
          <a:xfrm flipH="1" flipV="1">
            <a:off x="9249507" y="13548945"/>
            <a:ext cx="351693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half → proposal / 2"/>
          <p:cNvCxnSpPr/>
          <p:nvPr/>
        </p:nvCxnSpPr>
        <p:spPr>
          <a:xfrm>
            <a:off x="9601200" y="13504984"/>
            <a:ext cx="0" cy="43962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half → proposal / 1"/>
          <p:cNvCxnSpPr>
            <a:stCxn id="21" idx="1"/>
          </p:cNvCxnSpPr>
          <p:nvPr/>
        </p:nvCxnSpPr>
        <p:spPr>
          <a:xfrm flipH="1">
            <a:off x="9601200" y="13504984"/>
            <a:ext cx="703384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try → half / 3"/>
          <p:cNvCxnSpPr>
            <a:endCxn id="21" idx="1"/>
          </p:cNvCxnSpPr>
          <p:nvPr/>
        </p:nvCxnSpPr>
        <p:spPr>
          <a:xfrm>
            <a:off x="9864969" y="13504984"/>
            <a:ext cx="439615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try → half / 2"/>
          <p:cNvCxnSpPr/>
          <p:nvPr/>
        </p:nvCxnSpPr>
        <p:spPr>
          <a:xfrm flipV="1">
            <a:off x="9864969" y="13504984"/>
            <a:ext cx="0" cy="2769577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try → half / 1"/>
          <p:cNvCxnSpPr>
            <a:stCxn id="13" idx="3"/>
          </p:cNvCxnSpPr>
          <p:nvPr/>
        </p:nvCxnSpPr>
        <p:spPr>
          <a:xfrm>
            <a:off x="9249507" y="16274560"/>
            <a:ext cx="615462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peak → retry / 1"/>
          <p:cNvCxnSpPr>
            <a:stCxn id="12" idx="2"/>
            <a:endCxn id="13" idx="0"/>
          </p:cNvCxnSpPr>
          <p:nvPr/>
        </p:nvCxnSpPr>
        <p:spPr>
          <a:xfrm>
            <a:off x="6743699" y="15439291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proposal → peak / 1"/>
          <p:cNvCxnSpPr>
            <a:stCxn id="11" idx="2"/>
            <a:endCxn id="12" idx="0"/>
          </p:cNvCxnSpPr>
          <p:nvPr/>
        </p:nvCxnSpPr>
        <p:spPr>
          <a:xfrm>
            <a:off x="6743699" y="14032522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ep → proposal / 1"/>
          <p:cNvCxnSpPr>
            <a:stCxn id="10" idx="2"/>
            <a:endCxn id="11" idx="0"/>
          </p:cNvCxnSpPr>
          <p:nvPr/>
        </p:nvCxnSpPr>
        <p:spPr>
          <a:xfrm>
            <a:off x="6743699" y="12713676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inactive → output / 3"/>
          <p:cNvCxnSpPr>
            <a:endCxn id="18" idx="1"/>
          </p:cNvCxnSpPr>
          <p:nvPr/>
        </p:nvCxnSpPr>
        <p:spPr>
          <a:xfrm>
            <a:off x="633046" y="22824830"/>
            <a:ext cx="3604846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inactive → output / 2"/>
          <p:cNvCxnSpPr/>
          <p:nvPr/>
        </p:nvCxnSpPr>
        <p:spPr>
          <a:xfrm>
            <a:off x="633046" y="11043138"/>
            <a:ext cx="0" cy="11781692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inactive → output / 1"/>
          <p:cNvCxnSpPr>
            <a:stCxn id="20" idx="1"/>
          </p:cNvCxnSpPr>
          <p:nvPr/>
        </p:nvCxnSpPr>
        <p:spPr>
          <a:xfrm flipH="1">
            <a:off x="633046" y="11043138"/>
            <a:ext cx="263769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on → inactive / 1"/>
          <p:cNvCxnSpPr>
            <a:stCxn id="9" idx="1"/>
            <a:endCxn id="20" idx="3"/>
          </p:cNvCxnSpPr>
          <p:nvPr/>
        </p:nvCxnSpPr>
        <p:spPr>
          <a:xfrm flipH="1">
            <a:off x="3534507" y="10999176"/>
            <a:ext cx="703385" cy="43962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on → step / 1"/>
          <p:cNvCxnSpPr>
            <a:stCxn id="9" idx="2"/>
            <a:endCxn id="10" idx="0"/>
          </p:cNvCxnSpPr>
          <p:nvPr/>
        </p:nvCxnSpPr>
        <p:spPr>
          <a:xfrm>
            <a:off x="6743699" y="11482753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ctive → on / 1"/>
          <p:cNvCxnSpPr>
            <a:stCxn id="8" idx="2"/>
            <a:endCxn id="9" idx="0"/>
          </p:cNvCxnSpPr>
          <p:nvPr/>
        </p:nvCxnSpPr>
        <p:spPr>
          <a:xfrm>
            <a:off x="6743699" y="10163906"/>
            <a:ext cx="0" cy="35169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unout → output / 3"/>
          <p:cNvCxnSpPr>
            <a:endCxn id="18" idx="1"/>
          </p:cNvCxnSpPr>
          <p:nvPr/>
        </p:nvCxnSpPr>
        <p:spPr>
          <a:xfrm>
            <a:off x="633046" y="22824830"/>
            <a:ext cx="3604846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unout → output / 2"/>
          <p:cNvCxnSpPr/>
          <p:nvPr/>
        </p:nvCxnSpPr>
        <p:spPr>
          <a:xfrm>
            <a:off x="633046" y="8405446"/>
            <a:ext cx="0" cy="14419384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unout → output / 1"/>
          <p:cNvCxnSpPr>
            <a:stCxn id="19" idx="1"/>
          </p:cNvCxnSpPr>
          <p:nvPr/>
        </p:nvCxnSpPr>
        <p:spPr>
          <a:xfrm flipH="1">
            <a:off x="633046" y="8405445"/>
            <a:ext cx="263769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mit → runout / 1"/>
          <p:cNvCxnSpPr>
            <a:stCxn id="7" idx="1"/>
            <a:endCxn id="19" idx="3"/>
          </p:cNvCxnSpPr>
          <p:nvPr/>
        </p:nvCxnSpPr>
        <p:spPr>
          <a:xfrm flipH="1">
            <a:off x="3534507" y="8405445"/>
            <a:ext cx="703385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mit → active / 1"/>
          <p:cNvCxnSpPr>
            <a:stCxn id="7" idx="2"/>
            <a:endCxn id="8" idx="0"/>
          </p:cNvCxnSpPr>
          <p:nvPr/>
        </p:nvCxnSpPr>
        <p:spPr>
          <a:xfrm>
            <a:off x="6743699" y="8845060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initialstop → stop / 3"/>
          <p:cNvCxnSpPr>
            <a:endCxn id="23" idx="3"/>
          </p:cNvCxnSpPr>
          <p:nvPr/>
        </p:nvCxnSpPr>
        <p:spPr>
          <a:xfrm flipH="1">
            <a:off x="13206045" y="20143176"/>
            <a:ext cx="527539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initialstop → stop / 2"/>
          <p:cNvCxnSpPr/>
          <p:nvPr/>
        </p:nvCxnSpPr>
        <p:spPr>
          <a:xfrm>
            <a:off x="13733584" y="7174523"/>
            <a:ext cx="0" cy="12968653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initialstop → stop / 1"/>
          <p:cNvCxnSpPr>
            <a:stCxn id="22" idx="3"/>
          </p:cNvCxnSpPr>
          <p:nvPr/>
        </p:nvCxnSpPr>
        <p:spPr>
          <a:xfrm>
            <a:off x="13206045" y="7174522"/>
            <a:ext cx="527539" cy="1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initok → initialstop / 1"/>
          <p:cNvCxnSpPr>
            <a:stCxn id="6" idx="3"/>
            <a:endCxn id="22" idx="1"/>
          </p:cNvCxnSpPr>
          <p:nvPr/>
        </p:nvCxnSpPr>
        <p:spPr>
          <a:xfrm>
            <a:off x="9249507" y="7130561"/>
            <a:ext cx="1055077" cy="4396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initok → limit / 1"/>
          <p:cNvCxnSpPr>
            <a:stCxn id="6" idx="2"/>
            <a:endCxn id="7" idx="0"/>
          </p:cNvCxnSpPr>
          <p:nvPr/>
        </p:nvCxnSpPr>
        <p:spPr>
          <a:xfrm>
            <a:off x="6743699" y="7570176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initial → initok / 1"/>
          <p:cNvCxnSpPr>
            <a:stCxn id="5" idx="2"/>
            <a:endCxn id="6" idx="0"/>
          </p:cNvCxnSpPr>
          <p:nvPr/>
        </p:nvCxnSpPr>
        <p:spPr>
          <a:xfrm>
            <a:off x="6743699" y="6339252"/>
            <a:ext cx="0" cy="35169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init → initial / 1"/>
          <p:cNvCxnSpPr>
            <a:stCxn id="4" idx="2"/>
            <a:endCxn id="5" idx="0"/>
          </p:cNvCxnSpPr>
          <p:nvPr/>
        </p:nvCxnSpPr>
        <p:spPr>
          <a:xfrm>
            <a:off x="6743699" y="5020406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input → init / 1"/>
          <p:cNvCxnSpPr>
            <a:stCxn id="3" idx="2"/>
            <a:endCxn id="4" idx="0"/>
          </p:cNvCxnSpPr>
          <p:nvPr/>
        </p:nvCxnSpPr>
        <p:spPr>
          <a:xfrm>
            <a:off x="6743699" y="3701560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art → input / 1"/>
          <p:cNvCxnSpPr>
            <a:stCxn id="2" idx="2"/>
            <a:endCxn id="3" idx="0"/>
          </p:cNvCxnSpPr>
          <p:nvPr/>
        </p:nvCxnSpPr>
        <p:spPr>
          <a:xfrm>
            <a:off x="6743699" y="2382714"/>
            <a:ext cx="0" cy="351693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tart"/>
          <p:cNvSpPr/>
          <p:nvPr/>
        </p:nvSpPr>
        <p:spPr>
          <a:xfrm>
            <a:off x="4237892" y="1767253"/>
            <a:ext cx="5011615" cy="615461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开始：定义一个抗剪疲劳算例</a:t>
            </a:r>
          </a:p>
        </p:txBody>
      </p:sp>
      <p:sp>
        <p:nvSpPr>
          <p:cNvPr id="3" name="input"/>
          <p:cNvSpPr/>
          <p:nvPr/>
        </p:nvSpPr>
        <p:spPr>
          <a:xfrm>
            <a:off x="4237892" y="2734407"/>
            <a:ext cx="5011615" cy="96715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输入试件、材料、黏结参数与峰谷总荷载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目标剪力：Vmax=Qmax/2；Vmin=Qmin/2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parameters / read_and_calculate</a:t>
            </a:r>
          </a:p>
        </p:txBody>
      </p:sp>
      <p:sp>
        <p:nvSpPr>
          <p:cNvPr id="4" name="init"/>
          <p:cNvSpPr/>
          <p:nvPr/>
        </p:nvSpPr>
        <p:spPr>
          <a:xfrm>
            <a:off x="4237892" y="4053253"/>
            <a:ext cx="5011615" cy="96715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计算真实交点、两侧锚固长度与箍筋位置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初始化 N=0、最大滑移、局部龄期和失效记录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prepare_parameters / fatigue_calculate</a:t>
            </a:r>
          </a:p>
        </p:txBody>
      </p:sp>
      <p:sp>
        <p:nvSpPr>
          <p:cNvPr id="5" name="initial"/>
          <p:cNvSpPr/>
          <p:nvPr/>
        </p:nvSpPr>
        <p:spPr>
          <a:xfrm>
            <a:off x="4237892" y="5372099"/>
            <a:ext cx="5011615" cy="967153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依次求初始峰值、谷值平衡（局部求解见第2页）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Vc(q)+Vs(q)+Vf(q)=Qmax/2 或 Qmin/2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可选 capacity_scan 仅作初始静力诊断</a:t>
            </a:r>
          </a:p>
        </p:txBody>
      </p:sp>
      <p:sp>
        <p:nvSpPr>
          <p:cNvPr id="6" name="initok"/>
          <p:cNvSpPr/>
          <p:nvPr/>
        </p:nvSpPr>
        <p:spPr>
          <a:xfrm>
            <a:off x="4237892" y="6690946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初始峰、谷状态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都求解成功？</a:t>
            </a:r>
          </a:p>
        </p:txBody>
      </p:sp>
      <p:sp>
        <p:nvSpPr>
          <p:cNvPr id="7" name="limit"/>
          <p:cNvSpPr/>
          <p:nvPr/>
        </p:nvSpPr>
        <p:spPr>
          <a:xfrm>
            <a:off x="4237892" y="7965830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N &lt; Nmax？</a:t>
            </a:r>
          </a:p>
        </p:txBody>
      </p:sp>
      <p:sp>
        <p:nvSpPr>
          <p:cNvPr id="8" name="active"/>
          <p:cNvSpPr/>
          <p:nvPr/>
        </p:nvSpPr>
        <p:spPr>
          <a:xfrm>
            <a:off x="4237892" y="9196753"/>
            <a:ext cx="5011615" cy="96715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由峰谷滑移确定疲劳活跃节点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曾激活或 smax&gt;ηδm，且滑移差&gt;容差（η默认0.75）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active_nodes｜[F19：阈值；其余为实现规则]</a:t>
            </a:r>
          </a:p>
        </p:txBody>
      </p:sp>
      <p:sp>
        <p:nvSpPr>
          <p:cNvPr id="9" name="on"/>
          <p:cNvSpPr/>
          <p:nvPr/>
        </p:nvSpPr>
        <p:spPr>
          <a:xfrm>
            <a:off x="4237892" y="10515600"/>
            <a:ext cx="5011615" cy="967153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有活跃节点，或启用了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箍筋/混凝土 S–N 规则？</a:t>
            </a:r>
          </a:p>
        </p:txBody>
      </p:sp>
      <p:sp>
        <p:nvSpPr>
          <p:cNvPr id="10" name="step"/>
          <p:cNvSpPr/>
          <p:nvPr/>
        </p:nvSpPr>
        <p:spPr>
          <a:xfrm>
            <a:off x="4237892" y="11834446"/>
            <a:ext cx="5011615" cy="879230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选择循环块 ΔN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不超过cycleStep、剩余循环数与下一快照位置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fatigue_calculate</a:t>
            </a:r>
          </a:p>
        </p:txBody>
      </p:sp>
      <p:sp>
        <p:nvSpPr>
          <p:cNvPr id="11" name="proposal"/>
          <p:cNvSpPr/>
          <p:nvPr/>
        </p:nvSpPr>
        <p:spPr>
          <a:xfrm>
            <a:off x="4237892" y="13065369"/>
            <a:ext cx="5011615" cy="96715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从已接受历史建立候选历史，不覆盖原历史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活跃节点：Nloc,new=Nloc,old+ΔN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可选S–N/Miner更新；默认关闭</a:t>
            </a:r>
          </a:p>
        </p:txBody>
      </p:sp>
      <p:sp>
        <p:nvSpPr>
          <p:cNvPr id="12" name="peak"/>
          <p:cNvSpPr/>
          <p:nvPr/>
        </p:nvSpPr>
        <p:spPr>
          <a:xfrm>
            <a:off x="4237892" y="14384215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按候选龄期更新 τm，并重新求峰值平衡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τm=max{0,τm0[1−kf log₁₀max(Nloc,1)]} [F19式2]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 → trial → bond_strength / anchorage</a:t>
            </a:r>
          </a:p>
        </p:txBody>
      </p:sp>
      <p:sp>
        <p:nvSpPr>
          <p:cNvPr id="13" name="retry"/>
          <p:cNvSpPr/>
          <p:nvPr/>
        </p:nvSpPr>
        <p:spPr>
          <a:xfrm>
            <a:off x="4237892" y="15790984"/>
            <a:ext cx="5011615" cy="967153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峰值失败或 q 增长过快，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并且 ΔN &gt; 1？</a:t>
            </a:r>
          </a:p>
        </p:txBody>
      </p:sp>
      <p:sp>
        <p:nvSpPr>
          <p:cNvPr id="14" name="peakok"/>
          <p:cNvSpPr/>
          <p:nvPr/>
        </p:nvSpPr>
        <p:spPr>
          <a:xfrm>
            <a:off x="4237892" y="17109830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候选峰值平衡成功？</a:t>
            </a:r>
          </a:p>
        </p:txBody>
      </p:sp>
      <p:sp>
        <p:nvSpPr>
          <p:cNvPr id="15" name="valley"/>
          <p:cNvSpPr/>
          <p:nvPr/>
        </p:nvSpPr>
        <p:spPr>
          <a:xfrm>
            <a:off x="4237892" y="18340753"/>
            <a:ext cx="5011615" cy="967153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继承候选峰值的最大滑移历史，求谷值平衡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Vc(qmin)+Vs(qmin)+Vf(qmin)=Qmin/2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state（卸载）</a:t>
            </a:r>
          </a:p>
        </p:txBody>
      </p:sp>
      <p:sp>
        <p:nvSpPr>
          <p:cNvPr id="16" name="lowok"/>
          <p:cNvSpPr/>
          <p:nvPr/>
        </p:nvSpPr>
        <p:spPr>
          <a:xfrm>
            <a:off x="4237892" y="19659600"/>
            <a:ext cx="5011615" cy="879230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候选谷值平衡成功？</a:t>
            </a:r>
          </a:p>
        </p:txBody>
      </p:sp>
      <p:sp>
        <p:nvSpPr>
          <p:cNvPr id="17" name="commit"/>
          <p:cNvSpPr/>
          <p:nvPr/>
        </p:nvSpPr>
        <p:spPr>
          <a:xfrm>
            <a:off x="4237892" y="20890523"/>
            <a:ext cx="5011615" cy="96715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接受循环块：N←N+ΔN，提交候选历史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记录抗剪分量、裂缝位移、残差及失效标志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history_row / save_snapshot</a:t>
            </a:r>
          </a:p>
        </p:txBody>
      </p:sp>
      <p:sp>
        <p:nvSpPr>
          <p:cNvPr id="18" name="output"/>
          <p:cNvSpPr/>
          <p:nvPr/>
        </p:nvSpPr>
        <p:spPr>
          <a:xfrm>
            <a:off x="4237892" y="22385215"/>
            <a:ext cx="5011615" cy="879230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结束并输出最后有效结果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export_results：曲线、局部场、MAT / CSV / PNG</a:t>
            </a:r>
          </a:p>
        </p:txBody>
      </p:sp>
      <p:sp>
        <p:nvSpPr>
          <p:cNvPr id="19" name="runout"/>
          <p:cNvSpPr/>
          <p:nvPr/>
        </p:nvSpPr>
        <p:spPr>
          <a:xfrm>
            <a:off x="896815" y="7965830"/>
            <a:ext cx="2637692" cy="879230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达到 Nmax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标记 runout，不代表已破坏</a:t>
            </a:r>
          </a:p>
        </p:txBody>
      </p:sp>
      <p:sp>
        <p:nvSpPr>
          <p:cNvPr id="20" name="inactive"/>
          <p:cNvSpPr/>
          <p:nvPr/>
        </p:nvSpPr>
        <p:spPr>
          <a:xfrm>
            <a:off x="896815" y="10515600"/>
            <a:ext cx="2637692" cy="1055076"/>
          </a:xfrm>
          <a:prstGeom prst="roundRect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无可演化的退化项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沿快照记录至 Nmax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标记无活跃退化runout</a:t>
            </a:r>
          </a:p>
        </p:txBody>
      </p:sp>
      <p:sp>
        <p:nvSpPr>
          <p:cNvPr id="21" name="half"/>
          <p:cNvSpPr/>
          <p:nvPr/>
        </p:nvSpPr>
        <p:spPr>
          <a:xfrm>
            <a:off x="10304584" y="13065369"/>
            <a:ext cx="2901461" cy="879230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ΔN←max[1, floor(ΔN/2)]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回到同一份已接受历史重试</a:t>
            </a:r>
          </a:p>
        </p:txBody>
      </p:sp>
      <p:sp>
        <p:nvSpPr>
          <p:cNvPr id="22" name="initialstop"/>
          <p:cNvSpPr/>
          <p:nvPr/>
        </p:nvSpPr>
        <p:spPr>
          <a:xfrm>
            <a:off x="10304584" y="6690946"/>
            <a:ext cx="2901461" cy="967153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初始求解未成功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记录初始模型限制或数值诊断</a:t>
            </a:r>
          </a:p>
        </p:txBody>
      </p:sp>
      <p:sp>
        <p:nvSpPr>
          <p:cNvPr id="23" name="stop"/>
          <p:cNvSpPr/>
          <p:nvPr/>
        </p:nvSpPr>
        <p:spPr>
          <a:xfrm>
            <a:off x="10304584" y="19483753"/>
            <a:ext cx="2901461" cy="1318846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记录停止原因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数值不收敛 ≠ 物理破坏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无指定分支平衡根＝模型限制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保留最后已接受状态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2730" y="746027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是：保存N=0结果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6076" y="684481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22730" y="871317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5230" y="8097715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22730" y="11350869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65230" y="1071342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36269" y="15966830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22730" y="1662625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22730" y="1785717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38692" y="17241715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22730" y="204069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6076" y="19813465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15661" y="16054753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下一循环块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1283676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Microsoft YaHei"/>
              </a:defRPr>
            </a:pPr>
            <a:r>
              <a:t>抗剪疲劳计算主流程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5123" y="23660100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Microsoft YaHei"/>
              </a:defRPr>
            </a:pPr>
            <a:r>
              <a:t>[F19] DOI:10.1016/j.ijfatigue.2019.04.039；kf=0.1965(杆)/0.1985(条)。默认只启用界面疲劳。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2" name="more → diag / 1"/>
          <p:cNvCxnSpPr>
            <a:stCxn id="13" idx="2"/>
            <a:endCxn id="14" idx="0"/>
          </p:cNvCxnSpPr>
          <p:nvPr/>
        </p:nvCxnSpPr>
        <p:spPr>
          <a:xfrm>
            <a:off x="11755314" y="18384714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more → q / 3"/>
          <p:cNvCxnSpPr>
            <a:endCxn id="3" idx="3"/>
          </p:cNvCxnSpPr>
          <p:nvPr/>
        </p:nvCxnSpPr>
        <p:spPr>
          <a:xfrm flipH="1" flipV="1">
            <a:off x="9249507" y="6822829"/>
            <a:ext cx="4484077" cy="1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more → q / 2"/>
          <p:cNvCxnSpPr/>
          <p:nvPr/>
        </p:nvCxnSpPr>
        <p:spPr>
          <a:xfrm flipV="1">
            <a:off x="13733584" y="6822830"/>
            <a:ext cx="0" cy="11034346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ore → q / 1"/>
          <p:cNvCxnSpPr>
            <a:stCxn id="13" idx="3"/>
          </p:cNvCxnSpPr>
          <p:nvPr/>
        </p:nvCxnSpPr>
        <p:spPr>
          <a:xfrm>
            <a:off x="13206045" y="17857176"/>
            <a:ext cx="527539" cy="0"/>
          </a:xfrm>
          <a:prstGeom prst="line">
            <a:avLst/>
          </a:prstGeom>
          <a:ln w="17780">
            <a:solidFill>
              <a:srgbClr val="168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alanced → more / 1"/>
          <p:cNvCxnSpPr>
            <a:stCxn id="11" idx="3"/>
            <a:endCxn id="13" idx="1"/>
          </p:cNvCxnSpPr>
          <p:nvPr/>
        </p:nvCxnSpPr>
        <p:spPr>
          <a:xfrm>
            <a:off x="9249507" y="17857176"/>
            <a:ext cx="1055077" cy="0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alanced → return / 1"/>
          <p:cNvCxnSpPr>
            <a:stCxn id="11" idx="2"/>
            <a:endCxn id="12" idx="0"/>
          </p:cNvCxnSpPr>
          <p:nvPr/>
        </p:nvCxnSpPr>
        <p:spPr>
          <a:xfrm>
            <a:off x="6743699" y="18384714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um → balanced / 1"/>
          <p:cNvCxnSpPr>
            <a:stCxn id="10" idx="2"/>
            <a:endCxn id="11" idx="0"/>
          </p:cNvCxnSpPr>
          <p:nvPr/>
        </p:nvCxnSpPr>
        <p:spPr>
          <a:xfrm>
            <a:off x="6743699" y="16933983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ail → sum / 1"/>
          <p:cNvCxnSpPr>
            <a:stCxn id="9" idx="2"/>
            <a:endCxn id="10" idx="0"/>
          </p:cNvCxnSpPr>
          <p:nvPr/>
        </p:nvCxnSpPr>
        <p:spPr>
          <a:xfrm>
            <a:off x="6743699" y="15571176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nchor → fail / 1"/>
          <p:cNvCxnSpPr>
            <a:stCxn id="8" idx="2"/>
            <a:endCxn id="9" idx="0"/>
          </p:cNvCxnSpPr>
          <p:nvPr/>
        </p:nvCxnSpPr>
        <p:spPr>
          <a:xfrm>
            <a:off x="6743699" y="14208368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m → anchor / 1"/>
          <p:cNvCxnSpPr>
            <a:stCxn id="7" idx="2"/>
            <a:endCxn id="8" idx="0"/>
          </p:cNvCxnSpPr>
          <p:nvPr/>
        </p:nvCxnSpPr>
        <p:spPr>
          <a:xfrm>
            <a:off x="6743699" y="12757637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bar → tm / 1"/>
          <p:cNvCxnSpPr>
            <a:stCxn id="6" idx="2"/>
            <a:endCxn id="7" idx="0"/>
          </p:cNvCxnSpPr>
          <p:nvPr/>
        </p:nvCxnSpPr>
        <p:spPr>
          <a:xfrm>
            <a:off x="6743699" y="11394829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rete → bar / 1"/>
          <p:cNvCxnSpPr>
            <a:stCxn id="5" idx="2"/>
            <a:endCxn id="6" idx="0"/>
          </p:cNvCxnSpPr>
          <p:nvPr/>
        </p:nvCxnSpPr>
        <p:spPr>
          <a:xfrm>
            <a:off x="6743699" y="10032022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rack → concrete / 1"/>
          <p:cNvCxnSpPr>
            <a:stCxn id="4" idx="2"/>
            <a:endCxn id="5" idx="0"/>
          </p:cNvCxnSpPr>
          <p:nvPr/>
        </p:nvCxnSpPr>
        <p:spPr>
          <a:xfrm>
            <a:off x="6743699" y="8669214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q → crack / 1"/>
          <p:cNvCxnSpPr>
            <a:stCxn id="3" idx="2"/>
            <a:endCxn id="4" idx="0"/>
          </p:cNvCxnSpPr>
          <p:nvPr/>
        </p:nvCxnSpPr>
        <p:spPr>
          <a:xfrm>
            <a:off x="6743699" y="7306406"/>
            <a:ext cx="0" cy="395655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art → q / 1"/>
          <p:cNvCxnSpPr>
            <a:stCxn id="2" idx="2"/>
            <a:endCxn id="3" idx="0"/>
          </p:cNvCxnSpPr>
          <p:nvPr/>
        </p:nvCxnSpPr>
        <p:spPr>
          <a:xfrm>
            <a:off x="6743699" y="5943599"/>
            <a:ext cx="0" cy="395654"/>
          </a:xfrm>
          <a:prstGeom prst="line">
            <a:avLst/>
          </a:prstGeom>
          <a:ln w="17780">
            <a:solidFill>
              <a:srgbClr val="168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tart"/>
          <p:cNvSpPr/>
          <p:nvPr/>
        </p:nvSpPr>
        <p:spPr>
          <a:xfrm>
            <a:off x="4237892" y="5064369"/>
            <a:ext cx="5011615" cy="879230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给定目标剪力 Vtarget 与已接受历史 memory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峰值取Qmax/2，谷值取Qmin/2</a:t>
            </a:r>
          </a:p>
        </p:txBody>
      </p:sp>
      <p:sp>
        <p:nvSpPr>
          <p:cNvPr id="3" name="q"/>
          <p:cNvSpPr/>
          <p:nvPr/>
        </p:nvSpPr>
        <p:spPr>
          <a:xfrm>
            <a:off x="4237892" y="6339253"/>
            <a:ext cx="5011615" cy="967153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选择试探 q：扫描上升符号变化并二分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峰值：q≥上次峰值；谷值：0≤q≤峰值q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state：每个试探使用同一份已接受历史</a:t>
            </a:r>
          </a:p>
        </p:txBody>
      </p:sp>
      <p:sp>
        <p:nvSpPr>
          <p:cNvPr id="4" name="crack"/>
          <p:cNvSpPr/>
          <p:nvPr/>
        </p:nvSpPr>
        <p:spPr>
          <a:xfrm>
            <a:off x="4237892" y="7702061"/>
            <a:ext cx="5011615" cy="96715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计算裂缝运动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g(y)=(1−y/hc)^m；K=cosθ+r sinθ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w₀=q/K；v₀=rw₀｜crack_deformation</a:t>
            </a:r>
          </a:p>
        </p:txBody>
      </p:sp>
      <p:sp>
        <p:nvSpPr>
          <p:cNvPr id="5" name="concrete"/>
          <p:cNvSpPr/>
          <p:nvPr/>
        </p:nvSpPr>
        <p:spPr>
          <a:xfrm>
            <a:off x="4237892" y="9064869"/>
            <a:ext cx="5011615" cy="96715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计算混凝土和穿缝箍筋的抗剪贡献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Vc=当前经验闭合函数 Vc(q,Dc)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εs=qg/ls；σs=min(Esεs,fy)；Vs=ΣAsσs｜trial</a:t>
            </a:r>
          </a:p>
        </p:txBody>
      </p:sp>
      <p:sp>
        <p:nvSpPr>
          <p:cNvPr id="6" name="bar"/>
          <p:cNvSpPr/>
          <p:nvPr/>
        </p:nvSpPr>
        <p:spPr>
          <a:xfrm>
            <a:off x="4237892" y="10427676"/>
            <a:ext cx="5011615" cy="96715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对每根未失效的穿缝FRP筋计算裂缝位移投影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δj=qg(yj)[sin(θ+αj)−r cos(θ+αj)]/K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竖向筋α=90°时：δj=qg(yj)｜trial</a:t>
            </a:r>
          </a:p>
        </p:txBody>
      </p:sp>
      <p:sp>
        <p:nvSpPr>
          <p:cNvPr id="7" name="tm"/>
          <p:cNvSpPr/>
          <p:nvPr/>
        </p:nvSpPr>
        <p:spPr>
          <a:xfrm>
            <a:off x="4237892" y="11790484"/>
            <a:ext cx="5011615" cy="967153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由各节点局部龄期计算退化峰值 τm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τm=max{0,τm0[1−kf log₁₀max(Nloc,1)]}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bond_strength｜[F19式2]</a:t>
            </a:r>
          </a:p>
        </p:txBody>
      </p:sp>
      <p:sp>
        <p:nvSpPr>
          <p:cNvPr id="8" name="anchor"/>
          <p:cNvSpPr/>
          <p:nvPr/>
        </p:nvSpPr>
        <p:spPr>
          <a:xfrm>
            <a:off x="4237892" y="13153292"/>
            <a:ext cx="5011615" cy="1055076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离散两侧锚固段，迭代黏结刚度与滑移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s₁(0)+s₂(0)=δj；T₁(0)=T₂(0)；自由端T=0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anchorage / anchor_mesh / bond｜[S19式9d、10、11]</a:t>
            </a:r>
          </a:p>
        </p:txBody>
      </p:sp>
      <p:sp>
        <p:nvSpPr>
          <p:cNvPr id="9" name="fail"/>
          <p:cNvSpPr/>
          <p:nvPr/>
        </p:nvSpPr>
        <p:spPr>
          <a:xfrm>
            <a:off x="4237892" y="14604023"/>
            <a:ext cx="5011615" cy="967153"/>
          </a:xfrm>
          <a:prstGeom prst="roundRect">
            <a:avLst/>
          </a:prstGeom>
          <a:solidFill>
            <a:srgbClr val="EEF0F3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检查本根筋是否脱黏、达到抗拉或用户上限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失效筋贡献归零；然后处理下一根筋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trial：不把一根筋失效直接等同整梁破坏</a:t>
            </a:r>
          </a:p>
        </p:txBody>
      </p:sp>
      <p:sp>
        <p:nvSpPr>
          <p:cNvPr id="10" name="sum"/>
          <p:cNvSpPr/>
          <p:nvPr/>
        </p:nvSpPr>
        <p:spPr>
          <a:xfrm>
            <a:off x="4237892" y="15966830"/>
            <a:ext cx="5011615" cy="967153"/>
          </a:xfrm>
          <a:prstGeom prst="roundRect">
            <a:avLst/>
          </a:prstGeom>
          <a:solidFill>
            <a:srgbClr val="E5F3E9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汇总FRP竖向分量及总抗剪力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Vf=nfaces ΣTj sinαj；V(q)=Vc+Vs+Vf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trial｜方向投影与分量平衡 [R22式9a–d]</a:t>
            </a:r>
          </a:p>
        </p:txBody>
      </p:sp>
      <p:sp>
        <p:nvSpPr>
          <p:cNvPr id="11" name="balanced"/>
          <p:cNvSpPr/>
          <p:nvPr/>
        </p:nvSpPr>
        <p:spPr>
          <a:xfrm>
            <a:off x="4237892" y="17329638"/>
            <a:ext cx="5011615" cy="1055076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局部求解有效，且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|V(q)−Vtarget|≤forceTolerance？</a:t>
            </a:r>
          </a:p>
        </p:txBody>
      </p:sp>
      <p:sp>
        <p:nvSpPr>
          <p:cNvPr id="12" name="return"/>
          <p:cNvSpPr/>
          <p:nvPr/>
        </p:nvSpPr>
        <p:spPr>
          <a:xfrm>
            <a:off x="4237892" y="18780369"/>
            <a:ext cx="5011615" cy="879230"/>
          </a:xfrm>
          <a:prstGeom prst="roundRect">
            <a:avLst/>
          </a:prstGeom>
          <a:solidFill>
            <a:srgbClr val="E7F0FF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返回本次峰值或谷值的平衡响应</a:t>
            </a:r>
          </a:p>
          <a:p>
            <a:pPr algn="ctr">
              <a:spcAft>
                <a:spcPts val="100"/>
              </a:spcAft>
              <a:defRPr sz="1453">
                <a:solidFill>
                  <a:srgbClr val="243746"/>
                </a:solidFill>
                <a:latin typeface="Microsoft YaHei"/>
              </a:defRPr>
            </a:pPr>
            <a:r>
              <a:t>供总控制器检查是否接受候选循环块</a:t>
            </a:r>
          </a:p>
        </p:txBody>
      </p:sp>
      <p:sp>
        <p:nvSpPr>
          <p:cNvPr id="13" name="more"/>
          <p:cNvSpPr/>
          <p:nvPr/>
        </p:nvSpPr>
        <p:spPr>
          <a:xfrm>
            <a:off x="10304584" y="17329638"/>
            <a:ext cx="2901461" cy="1055076"/>
          </a:xfrm>
          <a:prstGeom prst="diamond">
            <a:avLst/>
          </a:prstGeom>
          <a:solidFill>
            <a:srgbClr val="FFE9CD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尚有扫描点或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有效二分搜索可继续？</a:t>
            </a:r>
          </a:p>
        </p:txBody>
      </p:sp>
      <p:sp>
        <p:nvSpPr>
          <p:cNvPr id="14" name="diag"/>
          <p:cNvSpPr/>
          <p:nvPr/>
        </p:nvSpPr>
        <p:spPr>
          <a:xfrm>
            <a:off x="10304584" y="18780369"/>
            <a:ext cx="2901461" cy="1143000"/>
          </a:xfrm>
          <a:prstGeom prst="roundRect">
            <a:avLst/>
          </a:prstGeom>
          <a:solidFill>
            <a:srgbClr val="FFE2DE"/>
          </a:solidFill>
          <a:ln>
            <a:solidFill>
              <a:srgbClr val="6A7E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停止本次平衡搜索并返回分类诊断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数值失败 / 分支分辨率限制 / 无域内平衡根</a:t>
            </a:r>
          </a:p>
          <a:p>
            <a:pPr algn="ctr">
              <a:spcAft>
                <a:spcPts val="100"/>
              </a:spcAft>
              <a:defRPr sz="1315">
                <a:solidFill>
                  <a:srgbClr val="243746"/>
                </a:solidFill>
                <a:latin typeface="Microsoft YaHei"/>
              </a:defRPr>
            </a:pPr>
            <a:r>
              <a:t>不是统一标记为脱黏破坏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2730" y="1827481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6076" y="17549446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63046" y="10471638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是：调整q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34346" y="18274811"/>
            <a:ext cx="1758461" cy="30773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246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92869"/>
            <a:ext cx="13716000" cy="395653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938">
                <a:solidFill>
                  <a:srgbClr val="243746"/>
                </a:solidFill>
                <a:latin typeface="Microsoft YaHei"/>
              </a:defRPr>
            </a:pPr>
            <a:r>
              <a:t>峰谷抗剪平衡的内部计算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123" y="20450907"/>
            <a:ext cx="13540153" cy="571500"/>
          </a:xfrm>
          <a:prstGeom prst="rect">
            <a:avLst/>
          </a:prstGeom>
          <a:noFill/>
        </p:spPr>
        <p:txBody>
          <a:bodyPr wrap="none" anchor="ctr" tIns="0" bIns="0" lIns="0" rIns="0">
            <a:spAutoFit/>
          </a:bodyPr>
          <a:lstStyle/>
          <a:p>
            <a:pPr algn="ctr">
              <a:spcAft>
                <a:spcPts val="100"/>
              </a:spcAft>
              <a:defRPr sz="1176">
                <a:solidFill>
                  <a:srgbClr val="243746"/>
                </a:solidFill>
                <a:latin typeface="Microsoft YaHei"/>
              </a:defRPr>
            </a:pPr>
            <a:r>
              <a:t>[S19] DOI:10.1061/(ASCE)CC.1943-5614.0000953；[R22] DOI尾号0001251。Vc、g、r、ls含代码假定；未实现S19式7。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
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4630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节点、文字、公式和箭头均为PowerPoint原生对象，没有插入逻辑图图片。在“开始→选择→选择窗格”按节点或箭头名称选择对象。箭头为带节点连接关系的自定义矢量连接符；移动节点后请检查回路走向，可重新路由或编辑顶点。画布16×24英寸，建议放大后编辑；公式为可编辑Unicode文本。F编号与review18中文审查报告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节点、文字、公式和箭头均为PowerPoint原生对象，没有插入逻辑图图片。在“开始→选择→选择窗格”按节点或箭头名称选择对象。箭头为带节点连接关系的自定义矢量连接符；移动节点后请检查回路走向，可重新路由或编辑顶点。画布16×24英寸，建议放大后编辑；公式为可编辑Unicode文本。F编号与review18中文审查报告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流程箭头 a → b"/>
          <p:cNvCxnSpPr>
            <a:stCxn id="22" idx="2"/>
            <a:endCxn id="23" idx="0"/>
          </p:cNvCxnSpPr>
          <p:nvPr/>
        </p:nvCxnSpPr>
        <p:spPr>
          <a:xfrm>
            <a:off x="11581163" y="2297334"/>
            <a:ext cx="1" cy="435876"/>
          </a:xfrm>
          <a:custGeom>
            <a:avLst/>
            <a:gdLst/>
            <a:ahLst/>
            <a:cxnLst/>
            <a:rect l="0" t="0" r="r" b="b"/>
            <a:pathLst>
              <a:path w="1" h="435876" fill="none" stroke="1">
                <a:moveTo>
                  <a:pt x="0" y="0"/>
                </a:moveTo>
                <a:cubicBezTo>
                  <a:pt x="0" y="85566"/>
                  <a:pt x="0" y="176387"/>
                  <a:pt x="0" y="266058"/>
                </a:cubicBezTo>
                <a:lnTo>
                  <a:pt x="0" y="435876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流程箭头 b → c"/>
          <p:cNvCxnSpPr>
            <a:stCxn id="23" idx="2"/>
            <a:endCxn id="24" idx="0"/>
          </p:cNvCxnSpPr>
          <p:nvPr/>
        </p:nvCxnSpPr>
        <p:spPr>
          <a:xfrm>
            <a:off x="11581163" y="3676895"/>
            <a:ext cx="1" cy="435875"/>
          </a:xfrm>
          <a:custGeom>
            <a:avLst/>
            <a:gdLst/>
            <a:ahLst/>
            <a:cxnLst/>
            <a:rect l="0" t="0" r="r" b="b"/>
            <a:pathLst>
              <a:path w="1" h="435875" fill="none" stroke="1">
                <a:moveTo>
                  <a:pt x="0" y="0"/>
                </a:moveTo>
                <a:cubicBezTo>
                  <a:pt x="0" y="85566"/>
                  <a:pt x="0" y="176387"/>
                  <a:pt x="0" y="266058"/>
                </a:cubicBezTo>
                <a:lnTo>
                  <a:pt x="0" y="435875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流程箭头 c → d"/>
          <p:cNvCxnSpPr>
            <a:stCxn id="24" idx="2"/>
            <a:endCxn id="25" idx="0"/>
          </p:cNvCxnSpPr>
          <p:nvPr/>
        </p:nvCxnSpPr>
        <p:spPr>
          <a:xfrm>
            <a:off x="11581163" y="5056456"/>
            <a:ext cx="1" cy="435382"/>
          </a:xfrm>
          <a:custGeom>
            <a:avLst/>
            <a:gdLst/>
            <a:ahLst/>
            <a:cxnLst/>
            <a:rect l="0" t="0" r="r" b="b"/>
            <a:pathLst>
              <a:path w="1" h="435382" fill="none" stroke="1">
                <a:moveTo>
                  <a:pt x="0" y="0"/>
                </a:moveTo>
                <a:cubicBezTo>
                  <a:pt x="0" y="85565"/>
                  <a:pt x="0" y="176386"/>
                  <a:pt x="0" y="266058"/>
                </a:cubicBezTo>
                <a:lnTo>
                  <a:pt x="0" y="435382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流程箭头 d → e"/>
          <p:cNvCxnSpPr>
            <a:stCxn id="25" idx="2"/>
            <a:endCxn id="26" idx="0"/>
          </p:cNvCxnSpPr>
          <p:nvPr/>
        </p:nvCxnSpPr>
        <p:spPr>
          <a:xfrm>
            <a:off x="11581163" y="6434538"/>
            <a:ext cx="1" cy="439653"/>
          </a:xfrm>
          <a:custGeom>
            <a:avLst/>
            <a:gdLst/>
            <a:ahLst/>
            <a:cxnLst/>
            <a:rect l="0" t="0" r="r" b="b"/>
            <a:pathLst>
              <a:path w="1" h="439653" fill="none" stroke="1">
                <a:moveTo>
                  <a:pt x="0" y="0"/>
                </a:moveTo>
                <a:cubicBezTo>
                  <a:pt x="0" y="87865"/>
                  <a:pt x="0" y="181642"/>
                  <a:pt x="0" y="274598"/>
                </a:cubicBezTo>
                <a:lnTo>
                  <a:pt x="0" y="439653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流程箭头 e → f"/>
          <p:cNvCxnSpPr>
            <a:stCxn id="26" idx="2"/>
            <a:endCxn id="27" idx="0"/>
          </p:cNvCxnSpPr>
          <p:nvPr/>
        </p:nvCxnSpPr>
        <p:spPr>
          <a:xfrm>
            <a:off x="9350873" y="7699957"/>
            <a:ext cx="1622298" cy="798502"/>
          </a:xfrm>
          <a:custGeom>
            <a:avLst/>
            <a:gdLst/>
            <a:ahLst/>
            <a:cxnLst/>
            <a:rect l="0" t="0" r="r" b="b"/>
            <a:pathLst>
              <a:path w="1622298" h="798502" fill="none" stroke="1">
                <a:moveTo>
                  <a:pt x="1622298" y="0"/>
                </a:moveTo>
                <a:cubicBezTo>
                  <a:pt x="1205473" y="205127"/>
                  <a:pt x="641167" y="482846"/>
                  <a:pt x="149781" y="724762"/>
                </a:cubicBezTo>
                <a:lnTo>
                  <a:pt x="0" y="798502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流程箭头 e → stop"/>
          <p:cNvCxnSpPr>
            <a:stCxn id="26" idx="2"/>
            <a:endCxn id="36" idx="3"/>
          </p:cNvCxnSpPr>
          <p:nvPr/>
        </p:nvCxnSpPr>
        <p:spPr>
          <a:xfrm>
            <a:off x="10526127" y="7718022"/>
            <a:ext cx="2483867" cy="11381047"/>
          </a:xfrm>
          <a:custGeom>
            <a:avLst/>
            <a:gdLst/>
            <a:ahLst/>
            <a:cxnLst/>
            <a:rect l="0" t="0" r="r" b="b"/>
            <a:pathLst>
              <a:path w="2483867" h="11381047" fill="none" stroke="1">
                <a:moveTo>
                  <a:pt x="1619670" y="0"/>
                </a:moveTo>
                <a:cubicBezTo>
                  <a:pt x="2019086" y="270328"/>
                  <a:pt x="2483867" y="699963"/>
                  <a:pt x="2483867" y="1234707"/>
                </a:cubicBezTo>
                <a:cubicBezTo>
                  <a:pt x="2483867" y="1234707"/>
                  <a:pt x="2483867" y="1234707"/>
                  <a:pt x="2483867" y="9676304"/>
                </a:cubicBezTo>
                <a:cubicBezTo>
                  <a:pt x="2483867" y="10762051"/>
                  <a:pt x="1290382" y="11193164"/>
                  <a:pt x="165219" y="11358547"/>
                </a:cubicBezTo>
                <a:lnTo>
                  <a:pt x="0" y="11381047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流程箭头 f → g"/>
          <p:cNvCxnSpPr>
            <a:stCxn id="27" idx="2"/>
            <a:endCxn id="28" idx="0"/>
          </p:cNvCxnSpPr>
          <p:nvPr/>
        </p:nvCxnSpPr>
        <p:spPr>
          <a:xfrm>
            <a:off x="8427881" y="9440174"/>
            <a:ext cx="1" cy="439488"/>
          </a:xfrm>
          <a:custGeom>
            <a:avLst/>
            <a:gdLst/>
            <a:ahLst/>
            <a:cxnLst/>
            <a:rect l="0" t="0" r="r" b="b"/>
            <a:pathLst>
              <a:path w="1" h="439488" fill="none" stroke="1">
                <a:moveTo>
                  <a:pt x="0" y="0"/>
                </a:moveTo>
                <a:cubicBezTo>
                  <a:pt x="0" y="85565"/>
                  <a:pt x="0" y="177536"/>
                  <a:pt x="0" y="270985"/>
                </a:cubicBezTo>
                <a:lnTo>
                  <a:pt x="0" y="439488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流程箭头 g → h"/>
          <p:cNvCxnSpPr>
            <a:stCxn id="28" idx="2"/>
            <a:endCxn id="29" idx="0"/>
          </p:cNvCxnSpPr>
          <p:nvPr/>
        </p:nvCxnSpPr>
        <p:spPr>
          <a:xfrm>
            <a:off x="7133065" y="11088256"/>
            <a:ext cx="832828" cy="844653"/>
          </a:xfrm>
          <a:custGeom>
            <a:avLst/>
            <a:gdLst/>
            <a:ahLst/>
            <a:cxnLst/>
            <a:rect l="0" t="0" r="r" b="b"/>
            <a:pathLst>
              <a:path w="832828" h="844653" fill="none" stroke="1">
                <a:moveTo>
                  <a:pt x="832828" y="0"/>
                </a:moveTo>
                <a:cubicBezTo>
                  <a:pt x="613248" y="222701"/>
                  <a:pt x="348832" y="490894"/>
                  <a:pt x="117591" y="725419"/>
                </a:cubicBezTo>
                <a:lnTo>
                  <a:pt x="0" y="844653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流程箭头 g → n"/>
          <p:cNvCxnSpPr>
            <a:stCxn id="28" idx="3"/>
            <a:endCxn id="35" idx="3"/>
          </p:cNvCxnSpPr>
          <p:nvPr/>
        </p:nvCxnSpPr>
        <p:spPr>
          <a:xfrm>
            <a:off x="9379286" y="10833530"/>
            <a:ext cx="1725600" cy="9672822"/>
          </a:xfrm>
          <a:custGeom>
            <a:avLst/>
            <a:gdLst/>
            <a:ahLst/>
            <a:cxnLst/>
            <a:rect l="0" t="0" r="r" b="b"/>
            <a:pathLst>
              <a:path w="1725600" h="9672822" fill="none" stroke="1">
                <a:moveTo>
                  <a:pt x="0" y="0"/>
                </a:moveTo>
                <a:cubicBezTo>
                  <a:pt x="769433" y="235675"/>
                  <a:pt x="1725600" y="699799"/>
                  <a:pt x="1725600" y="1551677"/>
                </a:cubicBezTo>
                <a:cubicBezTo>
                  <a:pt x="1725600" y="1551677"/>
                  <a:pt x="1725600" y="1551677"/>
                  <a:pt x="1725600" y="8359152"/>
                </a:cubicBezTo>
                <a:cubicBezTo>
                  <a:pt x="1725600" y="8914097"/>
                  <a:pt x="1302206" y="9315483"/>
                  <a:pt x="813776" y="9593859"/>
                </a:cubicBezTo>
                <a:lnTo>
                  <a:pt x="667608" y="9672822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流程箭头 h → i"/>
          <p:cNvCxnSpPr>
            <a:stCxn id="29" idx="2"/>
            <a:endCxn id="30" idx="0"/>
          </p:cNvCxnSpPr>
          <p:nvPr/>
        </p:nvCxnSpPr>
        <p:spPr>
          <a:xfrm>
            <a:off x="6687007" y="12871338"/>
            <a:ext cx="1" cy="604708"/>
          </a:xfrm>
          <a:custGeom>
            <a:avLst/>
            <a:gdLst/>
            <a:ahLst/>
            <a:cxnLst/>
            <a:rect l="0" t="0" r="r" b="b"/>
            <a:pathLst>
              <a:path w="1" h="604708" fill="none" stroke="1">
                <a:moveTo>
                  <a:pt x="0" y="0"/>
                </a:moveTo>
                <a:cubicBezTo>
                  <a:pt x="0" y="137464"/>
                  <a:pt x="0" y="290858"/>
                  <a:pt x="0" y="437354"/>
                </a:cubicBezTo>
                <a:lnTo>
                  <a:pt x="0" y="604708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流程箭头 i → j"/>
          <p:cNvCxnSpPr>
            <a:stCxn id="30" idx="2"/>
            <a:endCxn id="31" idx="0"/>
          </p:cNvCxnSpPr>
          <p:nvPr/>
        </p:nvCxnSpPr>
        <p:spPr>
          <a:xfrm>
            <a:off x="6687007" y="14416446"/>
            <a:ext cx="1" cy="439489"/>
          </a:xfrm>
          <a:custGeom>
            <a:avLst/>
            <a:gdLst/>
            <a:ahLst/>
            <a:cxnLst/>
            <a:rect l="0" t="0" r="r" b="b"/>
            <a:pathLst>
              <a:path w="1" h="439489" fill="none" stroke="1">
                <a:moveTo>
                  <a:pt x="0" y="0"/>
                </a:moveTo>
                <a:cubicBezTo>
                  <a:pt x="0" y="85566"/>
                  <a:pt x="0" y="177536"/>
                  <a:pt x="0" y="270985"/>
                </a:cubicBezTo>
                <a:lnTo>
                  <a:pt x="0" y="439489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流程箭头 j → k"/>
          <p:cNvCxnSpPr>
            <a:stCxn id="31" idx="2"/>
            <a:endCxn id="32" idx="0"/>
          </p:cNvCxnSpPr>
          <p:nvPr/>
        </p:nvCxnSpPr>
        <p:spPr>
          <a:xfrm>
            <a:off x="3455879" y="16005404"/>
            <a:ext cx="2297954" cy="1008394"/>
          </a:xfrm>
          <a:custGeom>
            <a:avLst/>
            <a:gdLst/>
            <a:ahLst/>
            <a:cxnLst/>
            <a:rect l="0" t="0" r="r" b="b"/>
            <a:pathLst>
              <a:path w="2297954" h="1008394" fill="none" stroke="1">
                <a:moveTo>
                  <a:pt x="2297954" y="0"/>
                </a:moveTo>
                <a:cubicBezTo>
                  <a:pt x="1653174" y="282975"/>
                  <a:pt x="798503" y="657919"/>
                  <a:pt x="151423" y="941879"/>
                </a:cubicBezTo>
                <a:lnTo>
                  <a:pt x="0" y="1008394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流程箭头 j → l"/>
          <p:cNvCxnSpPr>
            <a:stCxn id="31" idx="2"/>
            <a:endCxn id="33" idx="0"/>
          </p:cNvCxnSpPr>
          <p:nvPr/>
        </p:nvCxnSpPr>
        <p:spPr>
          <a:xfrm>
            <a:off x="6687007" y="16303817"/>
            <a:ext cx="1" cy="603393"/>
          </a:xfrm>
          <a:custGeom>
            <a:avLst/>
            <a:gdLst/>
            <a:ahLst/>
            <a:cxnLst/>
            <a:rect l="0" t="0" r="r" b="b"/>
            <a:pathLst>
              <a:path w="1" h="603393" fill="none" stroke="1">
                <a:moveTo>
                  <a:pt x="0" y="0"/>
                </a:moveTo>
                <a:cubicBezTo>
                  <a:pt x="0" y="144689"/>
                  <a:pt x="0" y="295784"/>
                  <a:pt x="0" y="437025"/>
                </a:cubicBezTo>
                <a:lnTo>
                  <a:pt x="0" y="603393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流程箭头 j → stop"/>
          <p:cNvCxnSpPr>
            <a:stCxn id="31" idx="2"/>
            <a:endCxn id="36" idx="0"/>
          </p:cNvCxnSpPr>
          <p:nvPr/>
        </p:nvCxnSpPr>
        <p:spPr>
          <a:xfrm>
            <a:off x="7801331" y="15945295"/>
            <a:ext cx="1469560" cy="2653191"/>
          </a:xfrm>
          <a:custGeom>
            <a:avLst/>
            <a:gdLst/>
            <a:ahLst/>
            <a:cxnLst/>
            <a:rect l="0" t="0" r="r" b="b"/>
            <a:pathLst>
              <a:path w="1469560" h="2653191" fill="none" stroke="1">
                <a:moveTo>
                  <a:pt x="0" y="0"/>
                </a:moveTo>
                <a:cubicBezTo>
                  <a:pt x="456569" y="204306"/>
                  <a:pt x="938430" y="513229"/>
                  <a:pt x="1201367" y="964543"/>
                </a:cubicBezTo>
                <a:cubicBezTo>
                  <a:pt x="1469560" y="1425053"/>
                  <a:pt x="1380217" y="2028611"/>
                  <a:pt x="1236677" y="2494541"/>
                </a:cubicBezTo>
                <a:lnTo>
                  <a:pt x="1184123" y="2653191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流程箭头 k → h"/>
          <p:cNvCxnSpPr>
            <a:stCxn id="32" idx="0"/>
            <a:endCxn id="29" idx="1"/>
          </p:cNvCxnSpPr>
          <p:nvPr/>
        </p:nvCxnSpPr>
        <p:spPr>
          <a:xfrm>
            <a:off x="2716172" y="12870024"/>
            <a:ext cx="2443793" cy="4142460"/>
          </a:xfrm>
          <a:custGeom>
            <a:avLst/>
            <a:gdLst/>
            <a:ahLst/>
            <a:cxnLst/>
            <a:rect l="0" t="0" r="r" b="b"/>
            <a:pathLst>
              <a:path w="2443793" h="4142460" fill="none" stroke="1">
                <a:moveTo>
                  <a:pt x="0" y="4142460"/>
                </a:moveTo>
                <a:cubicBezTo>
                  <a:pt x="129908" y="3398154"/>
                  <a:pt x="530966" y="1638886"/>
                  <a:pt x="1540181" y="607336"/>
                </a:cubicBezTo>
                <a:cubicBezTo>
                  <a:pt x="1752042" y="390876"/>
                  <a:pt x="2015636" y="215639"/>
                  <a:pt x="2290399" y="74727"/>
                </a:cubicBezTo>
                <a:lnTo>
                  <a:pt x="2443793" y="0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流程箭头 l → m"/>
          <p:cNvCxnSpPr>
            <a:stCxn id="33" idx="2"/>
            <a:endCxn id="34" idx="0"/>
          </p:cNvCxnSpPr>
          <p:nvPr/>
        </p:nvCxnSpPr>
        <p:spPr>
          <a:xfrm>
            <a:off x="5317793" y="17848924"/>
            <a:ext cx="878649" cy="814270"/>
          </a:xfrm>
          <a:custGeom>
            <a:avLst/>
            <a:gdLst/>
            <a:ahLst/>
            <a:cxnLst/>
            <a:rect l="0" t="0" r="r" b="b"/>
            <a:pathLst>
              <a:path w="878649" h="814270" fill="none" stroke="1">
                <a:moveTo>
                  <a:pt x="878649" y="0"/>
                </a:moveTo>
                <a:cubicBezTo>
                  <a:pt x="649543" y="212354"/>
                  <a:pt x="373467" y="468230"/>
                  <a:pt x="126132" y="697336"/>
                </a:cubicBezTo>
                <a:lnTo>
                  <a:pt x="0" y="814270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流程箭头 l → stop"/>
          <p:cNvCxnSpPr>
            <a:stCxn id="33" idx="2"/>
            <a:endCxn id="36" idx="0"/>
          </p:cNvCxnSpPr>
          <p:nvPr/>
        </p:nvCxnSpPr>
        <p:spPr>
          <a:xfrm>
            <a:off x="7215675" y="17848924"/>
            <a:ext cx="872572" cy="750547"/>
          </a:xfrm>
          <a:custGeom>
            <a:avLst/>
            <a:gdLst/>
            <a:ahLst/>
            <a:cxnLst/>
            <a:rect l="0" t="0" r="r" b="b"/>
            <a:pathLst>
              <a:path w="872572" h="750547" fill="none" stroke="1">
                <a:moveTo>
                  <a:pt x="0" y="0"/>
                </a:moveTo>
                <a:cubicBezTo>
                  <a:pt x="226642" y="194946"/>
                  <a:pt x="495984" y="426515"/>
                  <a:pt x="744634" y="640511"/>
                </a:cubicBezTo>
                <a:lnTo>
                  <a:pt x="872572" y="750547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流程箭头 m → f"/>
          <p:cNvCxnSpPr>
            <a:stCxn id="34" idx="1"/>
            <a:endCxn id="27" idx="1"/>
          </p:cNvCxnSpPr>
          <p:nvPr/>
        </p:nvCxnSpPr>
        <p:spPr>
          <a:xfrm>
            <a:off x="577524" y="9013988"/>
            <a:ext cx="5574411" cy="10093293"/>
          </a:xfrm>
          <a:custGeom>
            <a:avLst/>
            <a:gdLst/>
            <a:ahLst/>
            <a:cxnLst/>
            <a:rect l="0" t="0" r="r" b="b"/>
            <a:pathLst>
              <a:path w="5574411" h="10093293" fill="none" stroke="1">
                <a:moveTo>
                  <a:pt x="2584870" y="10093293"/>
                </a:moveTo>
                <a:cubicBezTo>
                  <a:pt x="1400419" y="9957636"/>
                  <a:pt x="0" y="9550009"/>
                  <a:pt x="0" y="8380338"/>
                </a:cubicBezTo>
                <a:cubicBezTo>
                  <a:pt x="0" y="1572863"/>
                  <a:pt x="0" y="1572863"/>
                  <a:pt x="0" y="1572863"/>
                </a:cubicBezTo>
                <a:cubicBezTo>
                  <a:pt x="0" y="453120"/>
                  <a:pt x="3105490" y="108394"/>
                  <a:pt x="5410013" y="6898"/>
                </a:cubicBezTo>
                <a:lnTo>
                  <a:pt x="5574411" y="0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流程箭头 m → n"/>
          <p:cNvCxnSpPr>
            <a:stCxn id="34" idx="2"/>
            <a:endCxn id="35" idx="0"/>
          </p:cNvCxnSpPr>
          <p:nvPr/>
        </p:nvCxnSpPr>
        <p:spPr>
          <a:xfrm>
            <a:off x="5616534" y="19564999"/>
            <a:ext cx="2107279" cy="939957"/>
          </a:xfrm>
          <a:custGeom>
            <a:avLst/>
            <a:gdLst/>
            <a:ahLst/>
            <a:cxnLst/>
            <a:rect l="0" t="0" r="r" b="b"/>
            <a:pathLst>
              <a:path w="2107279" h="939957" fill="none" stroke="1">
                <a:moveTo>
                  <a:pt x="0" y="0"/>
                </a:moveTo>
                <a:cubicBezTo>
                  <a:pt x="566605" y="252756"/>
                  <a:pt x="1323885" y="590584"/>
                  <a:pt x="1950929" y="870273"/>
                </a:cubicBezTo>
                <a:lnTo>
                  <a:pt x="2107279" y="939957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流程箭头 stop → n"/>
          <p:cNvCxnSpPr>
            <a:stCxn id="36" idx="2"/>
            <a:endCxn id="35" idx="0"/>
          </p:cNvCxnSpPr>
          <p:nvPr/>
        </p:nvCxnSpPr>
        <p:spPr>
          <a:xfrm>
            <a:off x="8739925" y="19751240"/>
            <a:ext cx="1" cy="752288"/>
          </a:xfrm>
          <a:custGeom>
            <a:avLst/>
            <a:gdLst/>
            <a:ahLst/>
            <a:cxnLst/>
            <a:rect l="0" t="0" r="r" b="b"/>
            <a:pathLst>
              <a:path w="1" h="752288" fill="none" stroke="1">
                <a:moveTo>
                  <a:pt x="0" y="0"/>
                </a:moveTo>
                <a:cubicBezTo>
                  <a:pt x="0" y="185748"/>
                  <a:pt x="0" y="393503"/>
                  <a:pt x="0" y="583686"/>
                </a:cubicBezTo>
                <a:lnTo>
                  <a:pt x="0" y="752288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节点 a | ① 试件、材料、荷载、数值与输出参数"/>
          <p:cNvSpPr/>
          <p:nvPr/>
        </p:nvSpPr>
        <p:spPr>
          <a:xfrm>
            <a:off x="9109424" y="1356932"/>
            <a:ext cx="4943478" cy="93613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① 试件、材料、荷载、数值与输出参数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main_drive → read_and_calculate → parameters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Q：两加载点总力；目标剪力 V=Q/2 [F01]</a:t>
            </a:r>
          </a:p>
        </p:txBody>
      </p:sp>
      <p:sp>
        <p:nvSpPr>
          <p:cNvPr id="23" name="节点 b | ② 检查参数、求真实筋/裂缝交点"/>
          <p:cNvSpPr/>
          <p:nvPr/>
        </p:nvSpPr>
        <p:spPr>
          <a:xfrm>
            <a:off x="9134078" y="2736492"/>
            <a:ext cx="4894169" cy="93613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② 检查参数、求真实筋/裂缝交点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prepare_parameters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裂缝倾角 [S19式2]；实际筋角、两侧锚固长度 [F02]</a:t>
            </a:r>
          </a:p>
        </p:txBody>
      </p:sp>
      <p:sp>
        <p:nvSpPr>
          <p:cNvPr id="24" name="节点 c | ③ 初始化最大滑移、局部龄期、激活与损伤"/>
          <p:cNvSpPr/>
          <p:nvPr/>
        </p:nvSpPr>
        <p:spPr>
          <a:xfrm>
            <a:off x="9478949" y="4116053"/>
            <a:ext cx="4204428" cy="93613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③ 初始化最大滑移、局部龄期、激活与损伤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fatigue_calculate / create_memory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可选初始静力路径：capacity_scan</a:t>
            </a:r>
          </a:p>
        </p:txBody>
      </p:sp>
      <p:sp>
        <p:nvSpPr>
          <p:cNvPr id="25" name="节点 d | ④ 求初始峰值及谷值的力平衡"/>
          <p:cNvSpPr/>
          <p:nvPr/>
        </p:nvSpPr>
        <p:spPr>
          <a:xfrm>
            <a:off x="9667850" y="5495614"/>
            <a:ext cx="3826625" cy="93613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④ 求初始峰值及谷值的力平衡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state → trial（局部计算见另图）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Vc + Vs + Vf = Qmax/2 或 Qmin/2 [F11]</a:t>
            </a:r>
          </a:p>
        </p:txBody>
      </p:sp>
      <p:sp>
        <p:nvSpPr>
          <p:cNvPr id="26" name="节点 e | 峰谷均成功？"/>
          <p:cNvSpPr/>
          <p:nvPr/>
        </p:nvSpPr>
        <p:spPr>
          <a:xfrm>
            <a:off x="9988125" y="6875177"/>
            <a:ext cx="3186076" cy="1018246"/>
          </a:xfrm>
          <a:prstGeom prst="diamond">
            <a:avLst/>
          </a:prstGeom>
          <a:solidFill>
            <a:srgbClr val="FFF4DD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峰谷均成功？</a:t>
            </a:r>
          </a:p>
        </p:txBody>
      </p:sp>
      <p:sp>
        <p:nvSpPr>
          <p:cNvPr id="27" name="节点 f | ⑤ 判断活跃节点"/>
          <p:cNvSpPr/>
          <p:nvPr/>
        </p:nvSpPr>
        <p:spPr>
          <a:xfrm>
            <a:off x="6153262" y="8501085"/>
            <a:ext cx="4549239" cy="93613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⑤ 判断活跃节点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active_nodes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超过0.75δm/历史已激活，且滑移差&gt;容差 [F08]</a:t>
            </a:r>
          </a:p>
        </p:txBody>
      </p:sp>
      <p:sp>
        <p:nvSpPr>
          <p:cNvPr id="28" name="节点 g | 存在启用的"/>
          <p:cNvSpPr/>
          <p:nvPr/>
        </p:nvSpPr>
        <p:spPr>
          <a:xfrm>
            <a:off x="7031904" y="9880661"/>
            <a:ext cx="2791955" cy="1445228"/>
          </a:xfrm>
          <a:prstGeom prst="diamond">
            <a:avLst/>
          </a:prstGeom>
          <a:solidFill>
            <a:srgbClr val="FFF4DD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存在启用的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退化机制？</a:t>
            </a:r>
          </a:p>
        </p:txBody>
      </p:sp>
      <p:sp>
        <p:nvSpPr>
          <p:cNvPr id="29" name="节点 h | ⑥ 提出 ΔN 的候选历史（尚不提交）"/>
          <p:cNvSpPr/>
          <p:nvPr/>
        </p:nvSpPr>
        <p:spPr>
          <a:xfrm>
            <a:off x="4478074" y="11933563"/>
            <a:ext cx="4417866" cy="93613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⑥ 提出 ΔN 的候选历史（尚不提交）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fatigue_calculate / update_memory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活跃节点龄期+ΔN；可选S–N/Miner [F08,F12]</a:t>
            </a:r>
          </a:p>
        </p:txBody>
      </p:sp>
      <p:sp>
        <p:nvSpPr>
          <p:cNvPr id="30" name="节点 i | ⑦ 候选峰值重新平衡"/>
          <p:cNvSpPr/>
          <p:nvPr/>
        </p:nvSpPr>
        <p:spPr>
          <a:xfrm>
            <a:off x="4445201" y="13477358"/>
            <a:ext cx="4483612" cy="93613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⑦ 候选峰值重新平衡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state → trial → bond_strength → anchorage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τm 随局部龄期退化 [F05–F11]</a:t>
            </a:r>
          </a:p>
        </p:txBody>
      </p:sp>
      <p:sp>
        <p:nvSpPr>
          <p:cNvPr id="31" name="节点 j | 峰值失败/位移增幅大"/>
          <p:cNvSpPr/>
          <p:nvPr/>
        </p:nvSpPr>
        <p:spPr>
          <a:xfrm>
            <a:off x="4436983" y="14856933"/>
            <a:ext cx="4500048" cy="1445228"/>
          </a:xfrm>
          <a:prstGeom prst="diamond">
            <a:avLst/>
          </a:prstGeom>
          <a:solidFill>
            <a:srgbClr val="FFF4DD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峰值失败/位移增幅大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且 ΔN&gt;1？</a:t>
            </a:r>
          </a:p>
        </p:txBody>
      </p:sp>
      <p:sp>
        <p:nvSpPr>
          <p:cNvPr id="32" name="节点 k | ΔN减半，回到已接受历史重试"/>
          <p:cNvSpPr/>
          <p:nvPr/>
        </p:nvSpPr>
        <p:spPr>
          <a:xfrm>
            <a:off x="1144156" y="17016590"/>
            <a:ext cx="3038266" cy="722626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ΔN减半，回到已接受历史重试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候选损伤不污染原历史</a:t>
            </a:r>
          </a:p>
        </p:txBody>
      </p:sp>
      <p:sp>
        <p:nvSpPr>
          <p:cNvPr id="33" name="节点 l | ⑧ 峰值成功后，重新求谷值"/>
          <p:cNvSpPr/>
          <p:nvPr/>
        </p:nvSpPr>
        <p:spPr>
          <a:xfrm>
            <a:off x="4568416" y="16909836"/>
            <a:ext cx="4237183" cy="93613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⑧ 峰值成功后，重新求谷值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两者成功才提交：N←N+ΔN、更新memory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history_row + save_snapshot</a:t>
            </a:r>
          </a:p>
        </p:txBody>
      </p:sp>
      <p:sp>
        <p:nvSpPr>
          <p:cNvPr id="34" name="节点 m | N &lt; Nmax"/>
          <p:cNvSpPr/>
          <p:nvPr/>
        </p:nvSpPr>
        <p:spPr>
          <a:xfrm>
            <a:off x="2991742" y="18453645"/>
            <a:ext cx="3580315" cy="1445228"/>
          </a:xfrm>
          <a:prstGeom prst="diamond">
            <a:avLst/>
          </a:prstGeom>
          <a:solidFill>
            <a:srgbClr val="FFF4DD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N &lt; Nmax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且可继续平衡？</a:t>
            </a:r>
          </a:p>
        </p:txBody>
      </p:sp>
      <p:sp>
        <p:nvSpPr>
          <p:cNvPr id="35" name="节点 n | ⑨ 输出与解释"/>
          <p:cNvSpPr/>
          <p:nvPr/>
        </p:nvSpPr>
        <p:spPr>
          <a:xfrm>
            <a:off x="6736271" y="20506548"/>
            <a:ext cx="4007308" cy="93613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4B6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⑨ 输出与解释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export_results：MAT / CSV / PNG / 状态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检查残差、分量、局部场，再做试验验证</a:t>
            </a:r>
          </a:p>
        </p:txBody>
      </p:sp>
      <p:sp>
        <p:nvSpPr>
          <p:cNvPr id="36" name="节点 stop | 区分停止原因"/>
          <p:cNvSpPr/>
          <p:nvPr/>
        </p:nvSpPr>
        <p:spPr>
          <a:xfrm>
            <a:off x="6957986" y="18601443"/>
            <a:ext cx="3563878" cy="1149631"/>
          </a:xfrm>
          <a:prstGeom prst="roundRect">
            <a:avLst/>
          </a:prstGeom>
          <a:solidFill>
            <a:srgbClr val="FFE8E5"/>
          </a:solidFill>
          <a:ln w="12700">
            <a:solidFill>
              <a:srgbClr val="B95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区分停止原因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局部数值失败 ≠ 真实破坏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无域内指定分支根＝模型限制</a:t>
            </a:r>
          </a:p>
          <a:p>
            <a:pPr algn="ctr">
              <a:lnSpc>
                <a:spcPts val="1738"/>
              </a:lnSpc>
              <a:spcBef>
                <a:spcPts val="0"/>
              </a:spcBef>
              <a:spcAft>
                <a:spcPts val="0"/>
              </a:spcAft>
              <a:defRPr sz="1551">
                <a:solidFill>
                  <a:srgbClr val="182F45"/>
                </a:solidFill>
                <a:latin typeface="Microsoft YaHei"/>
              </a:defRPr>
            </a:pPr>
            <a:r>
              <a:t>到Nmax＝runout，不能当疲劳寿命</a:t>
            </a:r>
          </a:p>
        </p:txBody>
      </p:sp>
      <p:sp>
        <p:nvSpPr>
          <p:cNvPr id="37" name="可编辑标签 | 抗剪疲劳的软件实现逻辑｜本次上传代码"/>
          <p:cNvSpPr txBox="1"/>
          <p:nvPr/>
        </p:nvSpPr>
        <p:spPr>
          <a:xfrm>
            <a:off x="4219400" y="486497"/>
            <a:ext cx="6191600" cy="50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586">
                <a:solidFill>
                  <a:srgbClr val="243746"/>
                </a:solidFill>
                <a:latin typeface="Microsoft YaHei"/>
              </a:defRPr>
            </a:pPr>
            <a:r>
              <a:t>抗剪疲劳的软件实现逻辑｜本次上传代码</a:t>
            </a:r>
          </a:p>
        </p:txBody>
      </p:sp>
      <p:sp>
        <p:nvSpPr>
          <p:cNvPr id="38" name="可编辑标签 | 蓝色：主控制　绿色：局部力学　橙色：模型假定　红色：停止/诊断"/>
          <p:cNvSpPr txBox="1"/>
          <p:nvPr/>
        </p:nvSpPr>
        <p:spPr>
          <a:xfrm>
            <a:off x="2158271" y="847810"/>
            <a:ext cx="10313858" cy="50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586">
                <a:solidFill>
                  <a:srgbClr val="243746"/>
                </a:solidFill>
                <a:latin typeface="Microsoft YaHei"/>
              </a:defRPr>
            </a:pPr>
            <a:r>
              <a:t>蓝色：主控制　绿色：局部力学　橙色：模型假定　红色：停止/诊断</a:t>
            </a:r>
          </a:p>
        </p:txBody>
      </p:sp>
      <p:sp>
        <p:nvSpPr>
          <p:cNvPr id="39" name="可编辑标签 | 是"/>
          <p:cNvSpPr txBox="1"/>
          <p:nvPr/>
        </p:nvSpPr>
        <p:spPr>
          <a:xfrm>
            <a:off x="9971675" y="8065869"/>
            <a:ext cx="394160" cy="254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93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40" name="可编辑标签 | 否"/>
          <p:cNvSpPr txBox="1"/>
          <p:nvPr/>
        </p:nvSpPr>
        <p:spPr>
          <a:xfrm>
            <a:off x="12895030" y="13042141"/>
            <a:ext cx="394160" cy="254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93">
                <a:solidFill>
                  <a:srgbClr val="243746"/>
                </a:solidFill>
                <a:latin typeface="Microsoft YaHei"/>
              </a:defRPr>
            </a:pPr>
            <a:r>
              <a:t>否</a:t>
            </a:r>
          </a:p>
        </p:txBody>
      </p:sp>
      <p:sp>
        <p:nvSpPr>
          <p:cNvPr id="41" name="可编辑标签 | 是"/>
          <p:cNvSpPr txBox="1"/>
          <p:nvPr/>
        </p:nvSpPr>
        <p:spPr>
          <a:xfrm>
            <a:off x="7376788" y="11498347"/>
            <a:ext cx="394160" cy="254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93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42" name="可编辑标签 | 否：无退化runout"/>
          <p:cNvSpPr txBox="1"/>
          <p:nvPr/>
        </p:nvSpPr>
        <p:spPr>
          <a:xfrm>
            <a:off x="11006346" y="15448160"/>
            <a:ext cx="1527371" cy="254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93">
                <a:solidFill>
                  <a:srgbClr val="243746"/>
                </a:solidFill>
                <a:latin typeface="Microsoft YaHei"/>
              </a:defRPr>
            </a:pPr>
            <a:r>
              <a:t>否：无退化runout</a:t>
            </a:r>
          </a:p>
        </p:txBody>
      </p:sp>
      <p:sp>
        <p:nvSpPr>
          <p:cNvPr id="43" name="可编辑标签 | 是"/>
          <p:cNvSpPr txBox="1"/>
          <p:nvPr/>
        </p:nvSpPr>
        <p:spPr>
          <a:xfrm>
            <a:off x="4437009" y="16474619"/>
            <a:ext cx="394160" cy="254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93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44" name="可编辑标签 | 否，且峰值成功"/>
          <p:cNvSpPr txBox="1"/>
          <p:nvPr/>
        </p:nvSpPr>
        <p:spPr>
          <a:xfrm>
            <a:off x="6588467" y="16474619"/>
            <a:ext cx="1330291" cy="254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93">
                <a:solidFill>
                  <a:srgbClr val="243746"/>
                </a:solidFill>
                <a:latin typeface="Microsoft YaHei"/>
              </a:defRPr>
            </a:pPr>
            <a:r>
              <a:t>否，且峰值成功</a:t>
            </a:r>
          </a:p>
        </p:txBody>
      </p:sp>
      <p:sp>
        <p:nvSpPr>
          <p:cNvPr id="45" name="可编辑标签 | 最小块仍失败"/>
          <p:cNvSpPr txBox="1"/>
          <p:nvPr/>
        </p:nvSpPr>
        <p:spPr>
          <a:xfrm>
            <a:off x="9068392" y="17246516"/>
            <a:ext cx="1166057" cy="254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93">
                <a:solidFill>
                  <a:srgbClr val="243746"/>
                </a:solidFill>
                <a:latin typeface="Microsoft YaHei"/>
              </a:defRPr>
            </a:pPr>
            <a:r>
              <a:t>最小块仍失败</a:t>
            </a:r>
          </a:p>
        </p:txBody>
      </p:sp>
      <p:sp>
        <p:nvSpPr>
          <p:cNvPr id="46" name="可编辑标签 | 成功"/>
          <p:cNvSpPr txBox="1"/>
          <p:nvPr/>
        </p:nvSpPr>
        <p:spPr>
          <a:xfrm>
            <a:off x="5849417" y="18018413"/>
            <a:ext cx="525547" cy="254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93">
                <a:solidFill>
                  <a:srgbClr val="243746"/>
                </a:solidFill>
                <a:latin typeface="Microsoft YaHei"/>
              </a:defRPr>
            </a:pPr>
            <a:r>
              <a:t>成功</a:t>
            </a:r>
          </a:p>
        </p:txBody>
      </p:sp>
      <p:sp>
        <p:nvSpPr>
          <p:cNvPr id="47" name="可编辑标签 | 谷值失败"/>
          <p:cNvSpPr txBox="1"/>
          <p:nvPr/>
        </p:nvSpPr>
        <p:spPr>
          <a:xfrm>
            <a:off x="7541021" y="18018413"/>
            <a:ext cx="854014" cy="254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93">
                <a:solidFill>
                  <a:srgbClr val="243746"/>
                </a:solidFill>
                <a:latin typeface="Microsoft YaHei"/>
              </a:defRPr>
            </a:pPr>
            <a:r>
              <a:t>谷值失败</a:t>
            </a:r>
          </a:p>
        </p:txBody>
      </p:sp>
      <p:sp>
        <p:nvSpPr>
          <p:cNvPr id="48" name="可编辑标签 | 是"/>
          <p:cNvSpPr txBox="1"/>
          <p:nvPr/>
        </p:nvSpPr>
        <p:spPr>
          <a:xfrm>
            <a:off x="462561" y="13814038"/>
            <a:ext cx="394160" cy="254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93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  <p:sp>
        <p:nvSpPr>
          <p:cNvPr id="49" name="可编辑标签 | 到上限"/>
          <p:cNvSpPr txBox="1"/>
          <p:nvPr/>
        </p:nvSpPr>
        <p:spPr>
          <a:xfrm>
            <a:off x="7130437" y="20071331"/>
            <a:ext cx="689780" cy="254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293">
                <a:solidFill>
                  <a:srgbClr val="243746"/>
                </a:solidFill>
                <a:latin typeface="Microsoft YaHei"/>
              </a:defRPr>
            </a:pPr>
            <a:r>
              <a:t>到上限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流程箭头 a → b"/>
          <p:cNvCxnSpPr>
            <a:stCxn id="11" idx="2"/>
            <a:endCxn id="12" idx="0"/>
          </p:cNvCxnSpPr>
          <p:nvPr/>
        </p:nvCxnSpPr>
        <p:spPr>
          <a:xfrm>
            <a:off x="6653187" y="2423717"/>
            <a:ext cx="825358" cy="642345"/>
          </a:xfrm>
          <a:custGeom>
            <a:avLst/>
            <a:gdLst/>
            <a:ahLst/>
            <a:cxnLst/>
            <a:rect l="0" t="0" r="r" b="b"/>
            <a:pathLst>
              <a:path w="825358" h="642345" fill="none" stroke="1">
                <a:moveTo>
                  <a:pt x="825358" y="0"/>
                </a:moveTo>
                <a:cubicBezTo>
                  <a:pt x="627713" y="153750"/>
                  <a:pt x="409441" y="323571"/>
                  <a:pt x="195006" y="490514"/>
                </a:cubicBezTo>
                <a:lnTo>
                  <a:pt x="0" y="642345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流程箭头 b → c"/>
          <p:cNvCxnSpPr>
            <a:stCxn id="12" idx="2"/>
            <a:endCxn id="13" idx="0"/>
          </p:cNvCxnSpPr>
          <p:nvPr/>
        </p:nvCxnSpPr>
        <p:spPr>
          <a:xfrm>
            <a:off x="5745797" y="4634025"/>
            <a:ext cx="56607" cy="636108"/>
          </a:xfrm>
          <a:custGeom>
            <a:avLst/>
            <a:gdLst/>
            <a:ahLst/>
            <a:cxnLst/>
            <a:rect l="0" t="0" r="r" b="b"/>
            <a:pathLst>
              <a:path w="56607" h="636108" fill="none" stroke="1">
                <a:moveTo>
                  <a:pt x="0" y="0"/>
                </a:moveTo>
                <a:cubicBezTo>
                  <a:pt x="11274" y="125687"/>
                  <a:pt x="23027" y="257850"/>
                  <a:pt x="34540" y="388573"/>
                </a:cubicBezTo>
                <a:lnTo>
                  <a:pt x="56607" y="636108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流程箭头 c → d"/>
          <p:cNvCxnSpPr>
            <a:stCxn id="13" idx="2"/>
            <a:endCxn id="14" idx="0"/>
          </p:cNvCxnSpPr>
          <p:nvPr/>
        </p:nvCxnSpPr>
        <p:spPr>
          <a:xfrm>
            <a:off x="5878440" y="6840735"/>
            <a:ext cx="7196" cy="636109"/>
          </a:xfrm>
          <a:custGeom>
            <a:avLst/>
            <a:gdLst/>
            <a:ahLst/>
            <a:cxnLst/>
            <a:rect l="0" t="0" r="r" b="b"/>
            <a:pathLst>
              <a:path w="7196" h="636109" fill="none" stroke="1">
                <a:moveTo>
                  <a:pt x="0" y="0"/>
                </a:moveTo>
                <a:cubicBezTo>
                  <a:pt x="1439" y="125687"/>
                  <a:pt x="2878" y="257850"/>
                  <a:pt x="4317" y="388573"/>
                </a:cubicBezTo>
                <a:lnTo>
                  <a:pt x="7196" y="636109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流程箭头 d → e"/>
          <p:cNvCxnSpPr>
            <a:stCxn id="14" idx="2"/>
            <a:endCxn id="15" idx="0"/>
          </p:cNvCxnSpPr>
          <p:nvPr/>
        </p:nvCxnSpPr>
        <p:spPr>
          <a:xfrm>
            <a:off x="5916578" y="9046246"/>
            <a:ext cx="26864" cy="905471"/>
          </a:xfrm>
          <a:custGeom>
            <a:avLst/>
            <a:gdLst/>
            <a:ahLst/>
            <a:cxnLst/>
            <a:rect l="0" t="0" r="r" b="b"/>
            <a:pathLst>
              <a:path w="26864" h="905471" fill="none" stroke="1">
                <a:moveTo>
                  <a:pt x="0" y="0"/>
                </a:moveTo>
                <a:cubicBezTo>
                  <a:pt x="6236" y="209638"/>
                  <a:pt x="13192" y="440383"/>
                  <a:pt x="19668" y="661533"/>
                </a:cubicBezTo>
                <a:lnTo>
                  <a:pt x="26864" y="905471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流程箭头 e → f"/>
          <p:cNvCxnSpPr>
            <a:stCxn id="15" idx="2"/>
            <a:endCxn id="16" idx="0"/>
          </p:cNvCxnSpPr>
          <p:nvPr/>
        </p:nvCxnSpPr>
        <p:spPr>
          <a:xfrm>
            <a:off x="6028352" y="11516322"/>
            <a:ext cx="52050" cy="635389"/>
          </a:xfrm>
          <a:custGeom>
            <a:avLst/>
            <a:gdLst/>
            <a:ahLst/>
            <a:cxnLst/>
            <a:rect l="0" t="0" r="r" b="b"/>
            <a:pathLst>
              <a:path w="52050" h="635389" fill="none" stroke="1">
                <a:moveTo>
                  <a:pt x="0" y="0"/>
                </a:moveTo>
                <a:cubicBezTo>
                  <a:pt x="10314" y="126646"/>
                  <a:pt x="21348" y="260728"/>
                  <a:pt x="32381" y="395049"/>
                </a:cubicBezTo>
                <a:lnTo>
                  <a:pt x="52050" y="635389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流程箭头 f → g"/>
          <p:cNvCxnSpPr>
            <a:stCxn id="16" idx="2"/>
            <a:endCxn id="17" idx="0"/>
          </p:cNvCxnSpPr>
          <p:nvPr/>
        </p:nvCxnSpPr>
        <p:spPr>
          <a:xfrm>
            <a:off x="6350244" y="14081383"/>
            <a:ext cx="131923" cy="642584"/>
          </a:xfrm>
          <a:custGeom>
            <a:avLst/>
            <a:gdLst/>
            <a:ahLst/>
            <a:cxnLst/>
            <a:rect l="0" t="0" r="r" b="b"/>
            <a:pathLst>
              <a:path w="131923" h="642584" fill="none" stroke="1">
                <a:moveTo>
                  <a:pt x="0" y="0"/>
                </a:moveTo>
                <a:cubicBezTo>
                  <a:pt x="27344" y="133362"/>
                  <a:pt x="55648" y="271041"/>
                  <a:pt x="83231" y="405363"/>
                </a:cubicBezTo>
                <a:lnTo>
                  <a:pt x="131923" y="642584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流程箭头 g → h"/>
          <p:cNvCxnSpPr>
            <a:stCxn id="17" idx="2"/>
            <a:endCxn id="18" idx="0"/>
          </p:cNvCxnSpPr>
          <p:nvPr/>
        </p:nvCxnSpPr>
        <p:spPr>
          <a:xfrm>
            <a:off x="7245401" y="16289772"/>
            <a:ext cx="705427" cy="881725"/>
          </a:xfrm>
          <a:custGeom>
            <a:avLst/>
            <a:gdLst/>
            <a:ahLst/>
            <a:cxnLst/>
            <a:rect l="0" t="0" r="r" b="b"/>
            <a:pathLst>
              <a:path w="705427" h="881725" fill="none" stroke="1">
                <a:moveTo>
                  <a:pt x="0" y="0"/>
                </a:moveTo>
                <a:cubicBezTo>
                  <a:pt x="172699" y="215874"/>
                  <a:pt x="364587" y="455734"/>
                  <a:pt x="550718" y="688638"/>
                </a:cubicBezTo>
                <a:lnTo>
                  <a:pt x="705427" y="881725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流程箭头 h → a"/>
          <p:cNvCxnSpPr>
            <a:stCxn id="18" idx="0"/>
            <a:endCxn id="11" idx="2"/>
          </p:cNvCxnSpPr>
          <p:nvPr/>
        </p:nvCxnSpPr>
        <p:spPr>
          <a:xfrm>
            <a:off x="9743301" y="2422038"/>
            <a:ext cx="1043870" cy="14872986"/>
          </a:xfrm>
          <a:custGeom>
            <a:avLst/>
            <a:gdLst/>
            <a:ahLst/>
            <a:cxnLst/>
            <a:rect l="0" t="0" r="r" b="b"/>
            <a:pathLst>
              <a:path w="1043870" h="14872986" fill="none" stroke="1">
                <a:moveTo>
                  <a:pt x="85869" y="14872986"/>
                </a:moveTo>
                <a:cubicBezTo>
                  <a:pt x="577582" y="14419172"/>
                  <a:pt x="1043870" y="13804891"/>
                  <a:pt x="1043870" y="13108098"/>
                </a:cubicBezTo>
                <a:cubicBezTo>
                  <a:pt x="1043870" y="1402940"/>
                  <a:pt x="1043870" y="1402940"/>
                  <a:pt x="1043870" y="1402940"/>
                </a:cubicBezTo>
                <a:cubicBezTo>
                  <a:pt x="1043870" y="853901"/>
                  <a:pt x="671127" y="436065"/>
                  <a:pt x="209637" y="129045"/>
                </a:cubicBezTo>
                <a:lnTo>
                  <a:pt x="0" y="0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流程箭头 h → i"/>
          <p:cNvCxnSpPr>
            <a:stCxn id="18" idx="2"/>
            <a:endCxn id="19" idx="0"/>
          </p:cNvCxnSpPr>
          <p:nvPr/>
        </p:nvCxnSpPr>
        <p:spPr>
          <a:xfrm>
            <a:off x="8700390" y="19332154"/>
            <a:ext cx="1" cy="908061"/>
          </a:xfrm>
          <a:custGeom>
            <a:avLst/>
            <a:gdLst/>
            <a:ahLst/>
            <a:cxnLst/>
            <a:rect l="0" t="0" r="r" b="b"/>
            <a:pathLst>
              <a:path w="1" h="908061" fill="none" stroke="1">
                <a:moveTo>
                  <a:pt x="0" y="0"/>
                </a:moveTo>
                <a:cubicBezTo>
                  <a:pt x="0" y="223789"/>
                  <a:pt x="0" y="453575"/>
                  <a:pt x="0" y="663452"/>
                </a:cubicBezTo>
                <a:lnTo>
                  <a:pt x="0" y="908061"/>
                </a:lnTo>
              </a:path>
            </a:pathLst>
          </a:custGeom>
          <a:ln w="15240">
            <a:solidFill>
              <a:srgbClr val="6075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节点 a | state 给出试探 q"/>
          <p:cNvSpPr/>
          <p:nvPr/>
        </p:nvSpPr>
        <p:spPr>
          <a:xfrm>
            <a:off x="3771252" y="1222503"/>
            <a:ext cx="8898837" cy="1199291"/>
          </a:xfrm>
          <a:prstGeom prst="roundRect">
            <a:avLst/>
          </a:prstGeom>
          <a:solidFill>
            <a:srgbClr val="E9F6EE"/>
          </a:solidFill>
          <a:ln w="12700">
            <a:solidFill>
              <a:srgbClr val="568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state 给出试探 q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所有试探使用同一份已接受 memory，不提交扫描候选</a:t>
            </a:r>
          </a:p>
        </p:txBody>
      </p:sp>
      <p:sp>
        <p:nvSpPr>
          <p:cNvPr id="12" name="节点 b | crack_deformation [F03]"/>
          <p:cNvSpPr/>
          <p:nvPr/>
        </p:nvSpPr>
        <p:spPr>
          <a:xfrm>
            <a:off x="1396688" y="3069418"/>
            <a:ext cx="8562937" cy="1559092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568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crack_deformation [F03]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g(y)=(1−y/hc)^m；K=cosθ+r sinθ；w₀=q/K；v₀=r w₀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当前是指定裂缝运动，不是 S19 式(7)</a:t>
            </a:r>
          </a:p>
        </p:txBody>
      </p:sp>
      <p:sp>
        <p:nvSpPr>
          <p:cNvPr id="13" name="节点 c | trial：混凝土与箍筋 [F09,F10]"/>
          <p:cNvSpPr/>
          <p:nvPr/>
        </p:nvSpPr>
        <p:spPr>
          <a:xfrm>
            <a:off x="1852374" y="5276128"/>
            <a:ext cx="8035341" cy="1559092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568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trial：混凝土与箍筋 [F09,F10]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Vc=经验指数闭合式；εs=qg/ls；σs=min(Esεs,fy)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Vs=ΣAs σs（材料应变关系有附加假定）</a:t>
            </a:r>
          </a:p>
        </p:txBody>
      </p:sp>
      <p:sp>
        <p:nvSpPr>
          <p:cNvPr id="14" name="节点 d | trial：逐根 FRP [F04]"/>
          <p:cNvSpPr/>
          <p:nvPr/>
        </p:nvSpPr>
        <p:spPr>
          <a:xfrm>
            <a:off x="2847792" y="7482838"/>
            <a:ext cx="6092477" cy="1559092"/>
          </a:xfrm>
          <a:prstGeom prst="roundRect">
            <a:avLst/>
          </a:prstGeom>
          <a:solidFill>
            <a:srgbClr val="E9F6EE"/>
          </a:solidFill>
          <a:ln w="12700">
            <a:solidFill>
              <a:srgbClr val="568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trial：逐根 FRP [F04]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δj=qg(yj)·[sin(θ+αj)−r cos(θ+αj)]/K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竖向筋 α=90° 时 δj=qg(yj)</a:t>
            </a:r>
          </a:p>
        </p:txBody>
      </p:sp>
      <p:sp>
        <p:nvSpPr>
          <p:cNvPr id="15" name="节点 e | bond_strength [F08]：由局部龄期提供退化峰值"/>
          <p:cNvSpPr/>
          <p:nvPr/>
        </p:nvSpPr>
        <p:spPr>
          <a:xfrm>
            <a:off x="2008331" y="9953394"/>
            <a:ext cx="7915316" cy="1559092"/>
          </a:xfrm>
          <a:prstGeom prst="roundRect">
            <a:avLst/>
          </a:prstGeom>
          <a:solidFill>
            <a:srgbClr val="E9F6EE"/>
          </a:solidFill>
          <a:ln w="12700">
            <a:solidFill>
              <a:srgbClr val="568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bond_strength [F08]：由局部龄期提供退化峰值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τm=max{0,τm0[1−kf log₁₀ max(Nloc,1)]}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来源 F19 式(2)，由抗弯迁移至抗剪需验证</a:t>
            </a:r>
          </a:p>
        </p:txBody>
      </p:sp>
      <p:sp>
        <p:nvSpPr>
          <p:cNvPr id="16" name="节点 f | anchorage + anchor_mesh + bond [F05–F07]"/>
          <p:cNvSpPr/>
          <p:nvPr/>
        </p:nvSpPr>
        <p:spPr>
          <a:xfrm>
            <a:off x="2416092" y="12160116"/>
            <a:ext cx="7483568" cy="1918859"/>
          </a:xfrm>
          <a:prstGeom prst="roundRect">
            <a:avLst/>
          </a:prstGeom>
          <a:solidFill>
            <a:srgbClr val="E9F6EE"/>
          </a:solidFill>
          <a:ln w="12700">
            <a:solidFill>
              <a:srgbClr val="568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anchorage + anchor_mesh + bond [F05–F07]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每侧 n 单元；三段包络与历史割线卸载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s₁(0)+s₂(0)=δj；T₁(0)=T₂(0)；自由端 T=0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固定点迭代失败时 Newton 回退</a:t>
            </a:r>
          </a:p>
        </p:txBody>
      </p:sp>
      <p:sp>
        <p:nvSpPr>
          <p:cNvPr id="17" name="节点 g | trial：检查本根筋并求和 [F11,F13]"/>
          <p:cNvSpPr/>
          <p:nvPr/>
        </p:nvSpPr>
        <p:spPr>
          <a:xfrm>
            <a:off x="3483421" y="14726604"/>
            <a:ext cx="6308351" cy="1559092"/>
          </a:xfrm>
          <a:prstGeom prst="roundRect">
            <a:avLst/>
          </a:prstGeom>
          <a:solidFill>
            <a:srgbClr val="E9F6EE"/>
          </a:solidFill>
          <a:ln w="12700">
            <a:solidFill>
              <a:srgbClr val="568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trial：检查本根筋并求和 [F11,F13]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失效筋不再贡献；Vf=nfaces ΣTj sinαj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总抗剪力 V(q)=Vc+Vs+Vf</a:t>
            </a:r>
          </a:p>
        </p:txBody>
      </p:sp>
      <p:sp>
        <p:nvSpPr>
          <p:cNvPr id="18" name="节点 h | state：|V(q)−Q/2|"/>
          <p:cNvSpPr/>
          <p:nvPr/>
        </p:nvSpPr>
        <p:spPr>
          <a:xfrm>
            <a:off x="4982525" y="16933306"/>
            <a:ext cx="7435730" cy="2398617"/>
          </a:xfrm>
          <a:prstGeom prst="diamond">
            <a:avLst/>
          </a:prstGeom>
          <a:solidFill>
            <a:srgbClr val="EAF2FF"/>
          </a:solidFill>
          <a:ln w="12700">
            <a:solidFill>
              <a:srgbClr val="568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state：|V(q)−Q/2|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≤ forceTolerance？</a:t>
            </a:r>
          </a:p>
        </p:txBody>
      </p:sp>
      <p:sp>
        <p:nvSpPr>
          <p:cNvPr id="19" name="节点 i | 接受一个峰/谷平衡状态，返回总控制器"/>
          <p:cNvSpPr/>
          <p:nvPr/>
        </p:nvSpPr>
        <p:spPr>
          <a:xfrm>
            <a:off x="4934601" y="20243385"/>
            <a:ext cx="7531578" cy="1199291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568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6576" rIns="36576"/>
          <a:lstStyle/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接受一个峰/谷平衡状态，返回总控制器</a:t>
            </a:r>
          </a:p>
          <a:p>
            <a:pPr algn="ctr">
              <a:lnSpc>
                <a:spcPts val="2961"/>
              </a:lnSpc>
              <a:spcBef>
                <a:spcPts val="0"/>
              </a:spcBef>
              <a:spcAft>
                <a:spcPts val="0"/>
              </a:spcAft>
              <a:defRPr sz="2644">
                <a:solidFill>
                  <a:srgbClr val="182F45"/>
                </a:solidFill>
                <a:latin typeface="Microsoft YaHei"/>
              </a:defRPr>
            </a:pPr>
            <a:r>
              <a:t>局部失败给出数值诊断，不直接当作物理破坏</a:t>
            </a:r>
          </a:p>
        </p:txBody>
      </p:sp>
      <p:sp>
        <p:nvSpPr>
          <p:cNvPr id="20" name="可编辑标签 | 给定 q，trial 如何计算一次抗剪响应"/>
          <p:cNvSpPr txBox="1"/>
          <p:nvPr/>
        </p:nvSpPr>
        <p:spPr>
          <a:xfrm>
            <a:off x="3297548" y="478934"/>
            <a:ext cx="8035303" cy="7435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777">
                <a:solidFill>
                  <a:srgbClr val="243746"/>
                </a:solidFill>
                <a:latin typeface="Microsoft YaHei"/>
              </a:defRPr>
            </a:pPr>
            <a:r>
              <a:t>给定 q，trial 如何计算一次抗剪响应</a:t>
            </a:r>
          </a:p>
        </p:txBody>
      </p:sp>
      <p:sp>
        <p:nvSpPr>
          <p:cNvPr id="21" name="可编辑标签 | 否：扫描/二分调整q"/>
          <p:cNvSpPr txBox="1"/>
          <p:nvPr/>
        </p:nvSpPr>
        <p:spPr>
          <a:xfrm>
            <a:off x="10643255" y="9287785"/>
            <a:ext cx="2734402" cy="408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077">
                <a:solidFill>
                  <a:srgbClr val="243746"/>
                </a:solidFill>
                <a:latin typeface="Microsoft YaHei"/>
              </a:defRPr>
            </a:pPr>
            <a:r>
              <a:t>否：扫描/二分调整q</a:t>
            </a:r>
          </a:p>
        </p:txBody>
      </p:sp>
      <p:sp>
        <p:nvSpPr>
          <p:cNvPr id="22" name="可编辑标签 | 是"/>
          <p:cNvSpPr txBox="1"/>
          <p:nvPr/>
        </p:nvSpPr>
        <p:spPr>
          <a:xfrm>
            <a:off x="8556474" y="19577770"/>
            <a:ext cx="575664" cy="408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077">
                <a:solidFill>
                  <a:srgbClr val="243746"/>
                </a:solidFill>
                <a:latin typeface="Microsoft YaHei"/>
              </a:defRPr>
            </a:pPr>
            <a:r>
              <a:t>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